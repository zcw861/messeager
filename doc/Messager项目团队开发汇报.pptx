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8" r:id="rId15"/>
    <p:sldId id="279" r:id="rId16"/>
    <p:sldId id="280" r:id="rId17"/>
    <p:sldId id="281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2400" y="10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Grp="1"/>
          </p:cNvSpPr>
          <p:nvPr/>
        </p:nvSpPr>
        <p:spPr>
          <a:xfrm>
            <a:off x="8362950" y="0"/>
            <a:ext cx="3829050" cy="6858000"/>
          </a:xfrm>
          <a:prstGeom prst="rect">
            <a:avLst/>
          </a:prstGeom>
          <a:solidFill>
            <a:srgbClr val="0877FF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19163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877FF"/>
                </a:solidFill>
              </a:defRPr>
            </a:pPr>
            <a:r>
              <a:rPr sz="2000" b="1" dirty="0">
                <a:solidFill>
                  <a:srgbClr val="0877FF"/>
                </a:solidFill>
              </a:rPr>
              <a:t>MESSAGER · </a:t>
            </a:r>
            <a:r>
              <a:rPr sz="2000" b="1" dirty="0" err="1">
                <a:solidFill>
                  <a:srgbClr val="0877FF"/>
                </a:solidFill>
              </a:rPr>
              <a:t>信使</a:t>
            </a:r>
            <a:endParaRPr sz="2000" b="1" dirty="0">
              <a:solidFill>
                <a:srgbClr val="0877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409700"/>
            <a:ext cx="69532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050" b="1">
                <a:solidFill>
                  <a:srgbClr val="0B1220"/>
                </a:solidFill>
              </a:defRPr>
            </a:pPr>
            <a:r>
              <a:rPr b="0">
                <a:solidFill>
                  <a:schemeClr val="tx1"/>
                </a:solidFill>
                <a:latin typeface="华文黑体" panose="02010600040101010101" charset="-122"/>
                <a:ea typeface="华文黑体" panose="02010600040101010101" charset="-122"/>
                <a:sym typeface="+mn-ea"/>
              </a:rPr>
              <a:t>局域网即时通信系统</a:t>
            </a:r>
            <a:endParaRPr sz="4050" b="1" dirty="0">
              <a:solidFill>
                <a:srgbClr val="0B1220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3943350"/>
            <a:ext cx="1104900" cy="47625"/>
          </a:xfrm>
          <a:prstGeom prst="rect">
            <a:avLst/>
          </a:prstGeom>
          <a:solidFill>
            <a:srgbClr val="0877FF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42291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0B1220"/>
                </a:solidFill>
              </a:defRPr>
            </a:pPr>
            <a:r>
              <a:rPr sz="2000" b="1" dirty="0">
                <a:solidFill>
                  <a:srgbClr val="0B1220"/>
                </a:solidFill>
              </a:rPr>
              <a:t>Qt 6  ·  C++23  ·  QML  ·  SQLite</a:t>
            </a:r>
            <a:endParaRPr sz="2000" b="1" dirty="0">
              <a:solidFill>
                <a:srgbClr val="0B122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58293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65728A"/>
                </a:solidFill>
              </a:defRPr>
            </a:pPr>
            <a:r>
              <a:rPr sz="1125" b="0">
                <a:solidFill>
                  <a:srgbClr val="65728A"/>
                </a:solidFill>
              </a:rPr>
              <a:t>项目团队开发汇报</a:t>
            </a:r>
            <a:endParaRPr sz="1125" b="0">
              <a:solidFill>
                <a:srgbClr val="65728A"/>
              </a:solidFill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29700" y="1981200"/>
            <a:ext cx="2476500" cy="24765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10991850" y="6457950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B9D8FF"/>
                </a:solidFill>
              </a:defRPr>
            </a:pPr>
            <a:r>
              <a:rPr sz="900" b="0">
                <a:solidFill>
                  <a:srgbClr val="B9D8FF"/>
                </a:solidFill>
              </a:rPr>
              <a:t>01</a:t>
            </a:r>
            <a:endParaRPr sz="900" b="0">
              <a:solidFill>
                <a:srgbClr val="B9D8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877FF"/>
                </a:solidFill>
              </a:defRPr>
            </a:pPr>
            <a:r>
              <a:rPr sz="1050" b="1">
                <a:solidFill>
                  <a:srgbClr val="0877FF"/>
                </a:solidFill>
              </a:rPr>
              <a:t>软件总览</a:t>
            </a:r>
            <a:endParaRPr sz="1050" b="1">
              <a:solidFill>
                <a:srgbClr val="0877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 dirty="0" err="1">
                <a:solidFill>
                  <a:srgbClr val="0B1220"/>
                </a:solidFill>
              </a:rPr>
              <a:t>完成发现、聊天与文件传输</a:t>
            </a:r>
            <a:endParaRPr sz="2850" b="1" dirty="0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 dirty="0">
                <a:solidFill>
                  <a:srgbClr val="65728A"/>
                </a:solidFill>
              </a:rPr>
              <a:t>Messager </a:t>
            </a:r>
            <a:r>
              <a:rPr sz="1275" b="0" dirty="0" err="1">
                <a:solidFill>
                  <a:srgbClr val="65728A"/>
                </a:solidFill>
              </a:rPr>
              <a:t>面向同一局域网中的轻量沟通场景</a:t>
            </a:r>
            <a:r>
              <a:rPr sz="1275" b="0" dirty="0">
                <a:solidFill>
                  <a:srgbClr val="65728A"/>
                </a:solidFill>
              </a:rPr>
              <a:t>。</a:t>
            </a:r>
            <a:endParaRPr sz="1275" b="0" dirty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133600"/>
            <a:ext cx="3619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局域网内，</a:t>
            </a:r>
            <a:endParaRPr sz="3150" b="1">
              <a:solidFill>
                <a:srgbClr val="0B1220"/>
              </a:solidFill>
            </a:endParaRPr>
          </a:p>
          <a:p>
            <a:pPr algn="l">
              <a:defRPr sz="3150" b="1">
                <a:solidFill>
                  <a:srgbClr val="0B1220"/>
                </a:solidFill>
              </a:defRPr>
            </a:pPr>
            <a:r>
              <a:rPr sz="3150" b="1">
                <a:solidFill>
                  <a:srgbClr val="0B1220"/>
                </a:solidFill>
              </a:rPr>
              <a:t>开箱即聊</a:t>
            </a:r>
            <a:endParaRPr sz="3150" b="1">
              <a:solidFill>
                <a:srgbClr val="0B122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3390900"/>
            <a:ext cx="3905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65728A"/>
                </a:solidFill>
              </a:defRPr>
            </a:pPr>
            <a:r>
              <a:rPr sz="1425" b="0" dirty="0">
                <a:solidFill>
                  <a:srgbClr val="65728A"/>
                </a:solidFill>
              </a:rPr>
              <a:t>UDP </a:t>
            </a:r>
            <a:r>
              <a:rPr sz="1425" b="0" dirty="0" err="1">
                <a:solidFill>
                  <a:srgbClr val="65728A"/>
                </a:solidFill>
              </a:rPr>
              <a:t>自动发现在线用户；TCP</a:t>
            </a:r>
            <a:r>
              <a:rPr sz="1425" b="0" dirty="0">
                <a:solidFill>
                  <a:srgbClr val="65728A"/>
                </a:solidFill>
              </a:rPr>
              <a:t> </a:t>
            </a:r>
            <a:r>
              <a:rPr sz="1425" b="0" dirty="0" err="1">
                <a:solidFill>
                  <a:srgbClr val="65728A"/>
                </a:solidFill>
              </a:rPr>
              <a:t>承担可靠消息与文件传输；SQLite</a:t>
            </a:r>
            <a:r>
              <a:rPr sz="1425" b="0" dirty="0">
                <a:solidFill>
                  <a:srgbClr val="65728A"/>
                </a:solidFill>
              </a:rPr>
              <a:t> </a:t>
            </a:r>
            <a:r>
              <a:rPr sz="1425" b="0" dirty="0" err="1">
                <a:solidFill>
                  <a:srgbClr val="65728A"/>
                </a:solidFill>
              </a:rPr>
              <a:t>保存历史状态</a:t>
            </a:r>
            <a:r>
              <a:rPr sz="1425" b="0" dirty="0">
                <a:solidFill>
                  <a:srgbClr val="65728A"/>
                </a:solidFill>
              </a:rPr>
              <a:t>。</a:t>
            </a:r>
            <a:endParaRPr sz="1425" b="0" dirty="0">
              <a:solidFill>
                <a:srgbClr val="65728A"/>
              </a:solidFill>
            </a:endParaRP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5105400" y="2133600"/>
            <a:ext cx="6400800" cy="3657600"/>
          </a:xfrm>
          <a:prstGeom prst="roundRect">
            <a:avLst>
              <a:gd name="adj" fmla="val 4167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5429250" y="24003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877FF"/>
                </a:solidFill>
              </a:defRPr>
            </a:pPr>
            <a:r>
              <a:rPr sz="2000" b="1" dirty="0">
                <a:solidFill>
                  <a:srgbClr val="0877FF"/>
                </a:solidFill>
              </a:rPr>
              <a:t>01</a:t>
            </a:r>
            <a:endParaRPr sz="2000" b="1" dirty="0">
              <a:solidFill>
                <a:srgbClr val="0877FF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19800" y="24003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 dirty="0" err="1">
                <a:solidFill>
                  <a:srgbClr val="0B1220"/>
                </a:solidFill>
              </a:rPr>
              <a:t>在线发现</a:t>
            </a:r>
            <a:endParaRPr sz="1500" b="1" dirty="0">
              <a:solidFill>
                <a:srgbClr val="0B122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772400" y="24003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 dirty="0" err="1">
                <a:solidFill>
                  <a:srgbClr val="65728A"/>
                </a:solidFill>
              </a:rPr>
              <a:t>周期广播</a:t>
            </a:r>
            <a:r>
              <a:rPr sz="1275" b="0" dirty="0">
                <a:solidFill>
                  <a:srgbClr val="65728A"/>
                </a:solidFill>
              </a:rPr>
              <a:t> + </a:t>
            </a:r>
            <a:r>
              <a:rPr sz="1275" b="0" dirty="0" err="1">
                <a:solidFill>
                  <a:srgbClr val="65728A"/>
                </a:solidFill>
              </a:rPr>
              <a:t>离线检测</a:t>
            </a:r>
            <a:endParaRPr sz="1275" b="0" dirty="0">
              <a:solidFill>
                <a:srgbClr val="65728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429250" y="2857500"/>
            <a:ext cx="5486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429250" y="30289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877FF"/>
                </a:solidFill>
              </a:defRPr>
            </a:pPr>
            <a:r>
              <a:rPr lang="en-US" altLang="zh-CN" sz="2000" b="1" dirty="0">
                <a:solidFill>
                  <a:srgbClr val="0877FF"/>
                </a:solidFill>
              </a:rPr>
              <a:t>02</a:t>
            </a:r>
            <a:endParaRPr sz="2000" b="1" dirty="0">
              <a:solidFill>
                <a:srgbClr val="0877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019800" y="30289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私聊 / 群聊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772400" y="30289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可靠收发 + 本地历史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429250" y="3486150"/>
            <a:ext cx="5486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5429250" y="36576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0877FF"/>
                </a:solidFill>
              </a:defRPr>
            </a:pPr>
            <a:r>
              <a:rPr sz="2000" b="1" dirty="0">
                <a:solidFill>
                  <a:srgbClr val="0877FF"/>
                </a:solidFill>
              </a:rPr>
              <a:t>03</a:t>
            </a:r>
            <a:endParaRPr sz="2000" b="1" dirty="0">
              <a:solidFill>
                <a:srgbClr val="0877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19800" y="36576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文件传输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72400" y="36576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接收确认 + 实时进度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429250" y="4114800"/>
            <a:ext cx="5486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429250" y="428625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1">
                <a:solidFill>
                  <a:srgbClr val="0877FF"/>
                </a:solidFill>
              </a:defRPr>
            </a:pPr>
            <a:r>
              <a:rPr sz="2000" b="1" dirty="0">
                <a:solidFill>
                  <a:srgbClr val="0877FF"/>
                </a:solidFill>
              </a:rPr>
              <a:t>04</a:t>
            </a:r>
            <a:endParaRPr sz="2000" b="1" dirty="0">
              <a:solidFill>
                <a:srgbClr val="0877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019800" y="428625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会话管理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772400" y="42862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搜索、切换、退群与解散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429250" y="4743450"/>
            <a:ext cx="5486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429250" y="4914900"/>
            <a:ext cx="457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1">
                <a:solidFill>
                  <a:srgbClr val="0877FF"/>
                </a:solidFill>
              </a:defRPr>
            </a:pPr>
            <a:r>
              <a:rPr sz="2000" b="1" dirty="0">
                <a:solidFill>
                  <a:srgbClr val="0877FF"/>
                </a:solidFill>
              </a:rPr>
              <a:t>05</a:t>
            </a:r>
            <a:endParaRPr sz="2000" b="1" dirty="0">
              <a:solidFill>
                <a:srgbClr val="0877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19800" y="49149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本地持久化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772400" y="49149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用户、消息与群数据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02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877FF"/>
                </a:solidFill>
              </a:defRPr>
            </a:pPr>
            <a:r>
              <a:rPr sz="1050" b="1">
                <a:solidFill>
                  <a:srgbClr val="0877FF"/>
                </a:solidFill>
              </a:rPr>
              <a:t>软件总览</a:t>
            </a:r>
            <a:endParaRPr sz="1050" b="1">
              <a:solidFill>
                <a:srgbClr val="0877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三条开发线独立推进，并在控制层汇合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: 圆角 4"/>
          <p:cNvSpPr>
            <a:spLocks noGrp="1"/>
          </p:cNvSpPr>
          <p:nvPr/>
        </p:nvSpPr>
        <p:spPr>
          <a:xfrm>
            <a:off x="1943100" y="2038350"/>
            <a:ext cx="8305800" cy="628650"/>
          </a:xfrm>
          <a:prstGeom prst="roundRect">
            <a:avLst>
              <a:gd name="adj" fmla="val 18182"/>
            </a:avLst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2247900" y="20955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7657E8"/>
                </a:solidFill>
              </a:defRPr>
            </a:pPr>
            <a:r>
              <a:rPr sz="1800" b="1">
                <a:solidFill>
                  <a:srgbClr val="7657E8"/>
                </a:solidFill>
              </a:rPr>
              <a:t>QML 前端层</a:t>
            </a:r>
            <a:endParaRPr sz="1800" b="1">
              <a:solidFill>
                <a:srgbClr val="7657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4438650" y="2095500"/>
            <a:ext cx="381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展示 · 交互 · 会话状态</a:t>
            </a:r>
            <a:endParaRPr sz="1350" b="0">
              <a:solidFill>
                <a:srgbClr val="0B122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705850" y="2095500"/>
            <a:ext cx="1200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350" b="1">
                <a:solidFill>
                  <a:srgbClr val="7657E8"/>
                </a:solidFill>
              </a:defRPr>
            </a:pPr>
            <a:r>
              <a:rPr sz="1350" b="1" dirty="0" err="1">
                <a:solidFill>
                  <a:srgbClr val="7657E8"/>
                </a:solidFill>
              </a:rPr>
              <a:t>江钒</a:t>
            </a:r>
            <a:endParaRPr sz="1350" b="1" dirty="0">
              <a:solidFill>
                <a:srgbClr val="7657E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72150" y="2647950"/>
            <a:ext cx="647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65728A"/>
                </a:solidFill>
              </a:defRPr>
            </a:pPr>
            <a:r>
              <a:rPr sz="1950" b="1">
                <a:solidFill>
                  <a:srgbClr val="65728A"/>
                </a:solidFill>
              </a:rPr>
              <a:t>↓</a:t>
            </a:r>
            <a:endParaRPr sz="1950" b="1">
              <a:solidFill>
                <a:srgbClr val="65728A"/>
              </a:solidFill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1943100" y="2990850"/>
            <a:ext cx="8305800" cy="628650"/>
          </a:xfrm>
          <a:prstGeom prst="roundRect">
            <a:avLst>
              <a:gd name="adj" fmla="val 18182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47900" y="3048000"/>
            <a:ext cx="2095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8A5A0"/>
                </a:solidFill>
              </a:defRPr>
            </a:pPr>
            <a:r>
              <a:rPr sz="1800" b="1">
                <a:solidFill>
                  <a:srgbClr val="18A5A0"/>
                </a:solidFill>
              </a:rPr>
              <a:t>AppController</a:t>
            </a:r>
            <a:endParaRPr sz="1800" b="1">
              <a:solidFill>
                <a:srgbClr val="18A5A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438650" y="3048000"/>
            <a:ext cx="3810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B1220"/>
                </a:solidFill>
              </a:defRPr>
            </a:pPr>
            <a:r>
              <a:rPr sz="1350" b="0" dirty="0" err="1">
                <a:solidFill>
                  <a:srgbClr val="0B1220"/>
                </a:solidFill>
              </a:rPr>
              <a:t>初始化</a:t>
            </a:r>
            <a:r>
              <a:rPr sz="1350" b="0" dirty="0">
                <a:solidFill>
                  <a:srgbClr val="0B1220"/>
                </a:solidFill>
              </a:rPr>
              <a:t> · </a:t>
            </a:r>
            <a:r>
              <a:rPr sz="1350" b="0" dirty="0" err="1">
                <a:solidFill>
                  <a:srgbClr val="0B1220"/>
                </a:solidFill>
              </a:rPr>
              <a:t>模型刷新</a:t>
            </a:r>
            <a:r>
              <a:rPr sz="1350" b="0" dirty="0">
                <a:solidFill>
                  <a:srgbClr val="0B1220"/>
                </a:solidFill>
              </a:rPr>
              <a:t> · </a:t>
            </a:r>
            <a:r>
              <a:rPr sz="1350" b="0" dirty="0" err="1">
                <a:solidFill>
                  <a:srgbClr val="0B1220"/>
                </a:solidFill>
              </a:rPr>
              <a:t>业务协调</a:t>
            </a:r>
            <a:endParaRPr sz="1350" b="0" dirty="0">
              <a:solidFill>
                <a:srgbClr val="0B122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96150" y="3048000"/>
            <a:ext cx="26098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00" b="1">
                <a:solidFill>
                  <a:srgbClr val="18A5A0"/>
                </a:solidFill>
              </a:defRPr>
            </a:pPr>
            <a:r>
              <a:rPr sz="1200" b="1" dirty="0" err="1">
                <a:solidFill>
                  <a:srgbClr val="18A5A0"/>
                </a:solidFill>
              </a:rPr>
              <a:t>何志远</a:t>
            </a:r>
            <a:r>
              <a:rPr sz="1200" b="1" dirty="0">
                <a:solidFill>
                  <a:srgbClr val="18A5A0"/>
                </a:solidFill>
              </a:rPr>
              <a:t> · </a:t>
            </a:r>
            <a:r>
              <a:rPr sz="1200" b="1" dirty="0" err="1">
                <a:solidFill>
                  <a:srgbClr val="18A5A0"/>
                </a:solidFill>
              </a:rPr>
              <a:t>周城伟</a:t>
            </a:r>
            <a:r>
              <a:rPr sz="1200" b="1" dirty="0">
                <a:solidFill>
                  <a:srgbClr val="18A5A0"/>
                </a:solidFill>
              </a:rPr>
              <a:t> · </a:t>
            </a:r>
            <a:r>
              <a:rPr sz="1200" b="1" dirty="0" err="1">
                <a:solidFill>
                  <a:srgbClr val="18A5A0"/>
                </a:solidFill>
              </a:rPr>
              <a:t>江钒</a:t>
            </a:r>
            <a:endParaRPr sz="1200" b="1" dirty="0">
              <a:solidFill>
                <a:srgbClr val="18A5A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67250" y="36004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65728A"/>
                </a:solidFill>
              </a:defRPr>
            </a:pPr>
            <a:r>
              <a:rPr sz="2025" b="1">
                <a:solidFill>
                  <a:srgbClr val="65728A"/>
                </a:solidFill>
              </a:rPr>
              <a:t>↙</a:t>
            </a:r>
            <a:endParaRPr sz="2025" b="1">
              <a:solidFill>
                <a:srgbClr val="65728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858000" y="3600450"/>
            <a:ext cx="666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65728A"/>
                </a:solidFill>
              </a:defRPr>
            </a:pPr>
            <a:r>
              <a:rPr sz="2025" b="1">
                <a:solidFill>
                  <a:srgbClr val="65728A"/>
                </a:solidFill>
              </a:rPr>
              <a:t>↘</a:t>
            </a:r>
            <a:endParaRPr sz="2025" b="1">
              <a:solidFill>
                <a:srgbClr val="65728A"/>
              </a:solidFill>
            </a:endParaRPr>
          </a:p>
        </p:txBody>
      </p:sp>
      <p:sp>
        <p:nvSpPr>
          <p:cNvPr id="16" name="矩形: 圆角 15"/>
          <p:cNvSpPr>
            <a:spLocks noGrp="1"/>
          </p:cNvSpPr>
          <p:nvPr/>
        </p:nvSpPr>
        <p:spPr>
          <a:xfrm>
            <a:off x="1943100" y="4038600"/>
            <a:ext cx="3943350" cy="914400"/>
          </a:xfrm>
          <a:prstGeom prst="roundRect">
            <a:avLst>
              <a:gd name="adj" fmla="val 12500"/>
            </a:avLst>
          </a:prstGeom>
          <a:solidFill>
            <a:srgbClr val="FFF4DE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2247900" y="41529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2A21B"/>
                </a:solidFill>
              </a:defRPr>
            </a:pPr>
            <a:r>
              <a:rPr sz="1800" b="1">
                <a:solidFill>
                  <a:srgbClr val="F2A21B"/>
                </a:solidFill>
              </a:rPr>
              <a:t>网络层</a:t>
            </a:r>
            <a:endParaRPr sz="1800" b="1">
              <a:solidFill>
                <a:srgbClr val="F2A21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247900" y="44958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发现 · 聊天 · 文件传输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743450" y="424815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F2A21B"/>
                </a:solidFill>
              </a:defRPr>
            </a:pPr>
            <a:r>
              <a:rPr sz="1275" b="1" dirty="0" err="1">
                <a:solidFill>
                  <a:srgbClr val="F2A21B"/>
                </a:solidFill>
              </a:rPr>
              <a:t>周城伟</a:t>
            </a:r>
            <a:endParaRPr sz="1275" b="1" dirty="0">
              <a:solidFill>
                <a:srgbClr val="F2A21B"/>
              </a:solidFill>
            </a:endParaRPr>
          </a:p>
        </p:txBody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6305550" y="4038600"/>
            <a:ext cx="3943350" cy="914400"/>
          </a:xfrm>
          <a:prstGeom prst="roundRect">
            <a:avLst>
              <a:gd name="adj" fmla="val 12500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10350" y="41529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8A5A0"/>
                </a:solidFill>
              </a:defRPr>
            </a:pPr>
            <a:r>
              <a:rPr sz="1800" b="1">
                <a:solidFill>
                  <a:srgbClr val="18A5A0"/>
                </a:solidFill>
              </a:rPr>
              <a:t>数据层</a:t>
            </a:r>
            <a:endParaRPr sz="1800" b="1">
              <a:solidFill>
                <a:srgbClr val="18A5A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610350" y="44958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身份 · 用户 · 消息 · 群聊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9105900" y="4248150"/>
            <a:ext cx="838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18A5A0"/>
                </a:solidFill>
              </a:defRPr>
            </a:pPr>
            <a:r>
              <a:rPr sz="1275" b="1" dirty="0" err="1">
                <a:solidFill>
                  <a:srgbClr val="18A5A0"/>
                </a:solidFill>
              </a:rPr>
              <a:t>何志远</a:t>
            </a:r>
            <a:endParaRPr sz="1275" b="1" dirty="0">
              <a:solidFill>
                <a:srgbClr val="18A5A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943100" y="5276850"/>
            <a:ext cx="830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0">
                <a:solidFill>
                  <a:srgbClr val="65728A"/>
                </a:solidFill>
              </a:defRPr>
            </a:pPr>
            <a:r>
              <a:rPr sz="1350" b="0" dirty="0" err="1">
                <a:solidFill>
                  <a:srgbClr val="65728A"/>
                </a:solidFill>
              </a:rPr>
              <a:t>AppController</a:t>
            </a:r>
            <a:r>
              <a:rPr sz="1350" b="0" dirty="0">
                <a:solidFill>
                  <a:srgbClr val="65728A"/>
                </a:solidFill>
              </a:rPr>
              <a:t> </a:t>
            </a:r>
            <a:r>
              <a:rPr sz="1350" b="0" dirty="0" err="1">
                <a:solidFill>
                  <a:srgbClr val="65728A"/>
                </a:solidFill>
              </a:rPr>
              <a:t>由三人共同参与：分别接入数据、网络、文件与界面状态</a:t>
            </a:r>
            <a:r>
              <a:rPr sz="1350" b="0" dirty="0">
                <a:solidFill>
                  <a:srgbClr val="65728A"/>
                </a:solidFill>
              </a:rPr>
              <a:t>。</a:t>
            </a:r>
            <a:endParaRPr sz="1350" b="0" dirty="0">
              <a:solidFill>
                <a:srgbClr val="65728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03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877FF"/>
                </a:solidFill>
              </a:defRPr>
            </a:pPr>
            <a:r>
              <a:rPr sz="1050" b="1">
                <a:solidFill>
                  <a:srgbClr val="0877FF"/>
                </a:solidFill>
              </a:rPr>
              <a:t>软件总览</a:t>
            </a:r>
            <a:endParaRPr sz="1050" b="1">
              <a:solidFill>
                <a:srgbClr val="0877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经过发现、连接、保存与界面反馈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我们把用户可见的一次操作，拆成可验证的端到端链路。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0764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877FF"/>
                </a:solidFill>
              </a:defRPr>
            </a:pPr>
            <a:r>
              <a:rPr sz="1650" b="1">
                <a:solidFill>
                  <a:srgbClr val="0877FF"/>
                </a:solidFill>
              </a:rPr>
              <a:t>01</a:t>
            </a:r>
            <a:endParaRPr sz="1650" b="1">
              <a:solidFill>
                <a:srgbClr val="0877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409700" y="20764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发现用户</a:t>
            </a:r>
            <a:endParaRPr sz="1575" b="1">
              <a:solidFill>
                <a:srgbClr val="0B1220"/>
              </a:solidFill>
            </a:endParaRP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3219450" y="2076450"/>
            <a:ext cx="8286750" cy="476250"/>
          </a:xfrm>
          <a:prstGeom prst="roundRect">
            <a:avLst>
              <a:gd name="adj" fmla="val 24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467100" y="2095500"/>
            <a:ext cx="7791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UDP 周期广播本机信息；收到广播后更新在线列表。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23900" y="28194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877FF"/>
                </a:solidFill>
              </a:defRPr>
            </a:pPr>
            <a:r>
              <a:rPr sz="1650" b="1">
                <a:solidFill>
                  <a:srgbClr val="0877FF"/>
                </a:solidFill>
              </a:rPr>
              <a:t>02</a:t>
            </a:r>
            <a:endParaRPr sz="1650" b="1">
              <a:solidFill>
                <a:srgbClr val="0877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09700" y="281940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选择会话</a:t>
            </a:r>
            <a:endParaRPr sz="1575" b="1">
              <a:solidFill>
                <a:srgbClr val="0B1220"/>
              </a:solidFill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3219450" y="2819400"/>
            <a:ext cx="8286750" cy="476250"/>
          </a:xfrm>
          <a:prstGeom prst="roundRect">
            <a:avLst>
              <a:gd name="adj" fmla="val 24000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467100" y="2838450"/>
            <a:ext cx="7791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界面记录私聊或群聊目标，并从本地数据库加载历史消息。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23900" y="35623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877FF"/>
                </a:solidFill>
              </a:defRPr>
            </a:pPr>
            <a:r>
              <a:rPr sz="1650" b="1">
                <a:solidFill>
                  <a:srgbClr val="0877FF"/>
                </a:solidFill>
              </a:rPr>
              <a:t>03</a:t>
            </a:r>
            <a:endParaRPr sz="1650" b="1">
              <a:solidFill>
                <a:srgbClr val="0877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409700" y="35623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发送消息</a:t>
            </a:r>
            <a:endParaRPr sz="1575" b="1">
              <a:solidFill>
                <a:srgbClr val="0B1220"/>
              </a:solidFill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3219450" y="3562350"/>
            <a:ext cx="8286750" cy="476250"/>
          </a:xfrm>
          <a:prstGeom prst="roundRect">
            <a:avLst>
              <a:gd name="adj" fmla="val 24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3467100" y="3581400"/>
            <a:ext cx="7791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AppController 校验目标与内容，再交给网络层封装并发送。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" y="430530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877FF"/>
                </a:solidFill>
              </a:defRPr>
            </a:pPr>
            <a:r>
              <a:rPr sz="1650" b="1">
                <a:solidFill>
                  <a:srgbClr val="0877FF"/>
                </a:solidFill>
              </a:rPr>
              <a:t>04</a:t>
            </a:r>
            <a:endParaRPr sz="1650" b="1">
              <a:solidFill>
                <a:srgbClr val="0877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09700" y="430530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接收落库</a:t>
            </a:r>
            <a:endParaRPr sz="1575" b="1">
              <a:solidFill>
                <a:srgbClr val="0B1220"/>
              </a:solidFill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3219450" y="4305300"/>
            <a:ext cx="8286750" cy="476250"/>
          </a:xfrm>
          <a:prstGeom prst="roundRect">
            <a:avLst>
              <a:gd name="adj" fmla="val 24000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467100" y="4324350"/>
            <a:ext cx="7791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网络线程解析完整帧，通过信号回到控制层并写入 SQLite。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3900" y="5048250"/>
            <a:ext cx="4953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877FF"/>
                </a:solidFill>
              </a:defRPr>
            </a:pPr>
            <a:r>
              <a:rPr sz="1650" b="1">
                <a:solidFill>
                  <a:srgbClr val="0877FF"/>
                </a:solidFill>
              </a:rPr>
              <a:t>05</a:t>
            </a:r>
            <a:endParaRPr sz="1650" b="1">
              <a:solidFill>
                <a:srgbClr val="0877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409700" y="50482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界面刷新</a:t>
            </a:r>
            <a:endParaRPr sz="1575" b="1">
              <a:solidFill>
                <a:srgbClr val="0B1220"/>
              </a:solidFill>
            </a:endParaRPr>
          </a:p>
        </p:txBody>
      </p:sp>
      <p:sp>
        <p:nvSpPr>
          <p:cNvPr id="23" name="矩形: 圆角 22"/>
          <p:cNvSpPr>
            <a:spLocks noGrp="1"/>
          </p:cNvSpPr>
          <p:nvPr/>
        </p:nvSpPr>
        <p:spPr>
          <a:xfrm>
            <a:off x="3219450" y="5048250"/>
            <a:ext cx="8286750" cy="476250"/>
          </a:xfrm>
          <a:prstGeom prst="roundRect">
            <a:avLst>
              <a:gd name="adj" fmla="val 2400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3467100" y="5067300"/>
            <a:ext cx="7791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模型发出 NOTIFY，QML 自动刷新消息、成员与传输进度。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04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877FF"/>
                </a:solidFill>
              </a:defRPr>
            </a:pPr>
            <a:r>
              <a:rPr sz="1050" b="1">
                <a:solidFill>
                  <a:srgbClr val="0877FF"/>
                </a:solidFill>
              </a:rPr>
              <a:t>软件总览</a:t>
            </a:r>
            <a:endParaRPr sz="1050" b="1">
              <a:solidFill>
                <a:srgbClr val="0877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桌面交互、局域网直连、本地可靠保存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每项技术都有明确职责，避免把所有逻辑堆进同一个模块。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: 圆角 4"/>
          <p:cNvSpPr>
            <a:spLocks noGrp="1"/>
          </p:cNvSpPr>
          <p:nvPr/>
        </p:nvSpPr>
        <p:spPr>
          <a:xfrm>
            <a:off x="723900" y="2114550"/>
            <a:ext cx="2038350" cy="495300"/>
          </a:xfrm>
          <a:prstGeom prst="roundRect">
            <a:avLst>
              <a:gd name="adj" fmla="val 23077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1336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Qt 6 + QML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143250" y="21145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界面与交互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143500" y="2114550"/>
            <a:ext cx="611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组件化界面、响应式布局、信号槽更新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723900" y="2800350"/>
            <a:ext cx="2038350" cy="495300"/>
          </a:xfrm>
          <a:prstGeom prst="roundRect">
            <a:avLst>
              <a:gd name="adj" fmla="val 23077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895350" y="28194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877FF"/>
                </a:solidFill>
              </a:defRPr>
            </a:pPr>
            <a:r>
              <a:rPr sz="1350" b="1">
                <a:solidFill>
                  <a:srgbClr val="0877FF"/>
                </a:solidFill>
              </a:rPr>
              <a:t>C++23</a:t>
            </a:r>
            <a:endParaRPr sz="1350" b="1">
              <a:solidFill>
                <a:srgbClr val="0877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43250" y="28003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核心业务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5143500" y="2800350"/>
            <a:ext cx="611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>
                <a:sym typeface="+mn-ea"/>
              </a:rPr>
              <a:t>控制层、协议</a:t>
            </a:r>
            <a:r>
              <a:rPr lang="zh-CN">
                <a:ea typeface="宋体" charset="0"/>
                <a:sym typeface="+mn-ea"/>
              </a:rPr>
              <a:t>常量</a:t>
            </a:r>
            <a:r>
              <a:rPr>
                <a:sym typeface="+mn-ea"/>
              </a:rPr>
              <a:t>、线程与资源管理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723900" y="3486150"/>
            <a:ext cx="2038350" cy="495300"/>
          </a:xfrm>
          <a:prstGeom prst="roundRect">
            <a:avLst>
              <a:gd name="adj" fmla="val 23077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95350" y="35052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877FF"/>
                </a:solidFill>
              </a:defRPr>
            </a:pPr>
            <a:r>
              <a:rPr sz="1350" b="1">
                <a:solidFill>
                  <a:srgbClr val="0877FF"/>
                </a:solidFill>
              </a:rPr>
              <a:t>POSIX Socket + epoll</a:t>
            </a:r>
            <a:endParaRPr sz="1350" b="1">
              <a:solidFill>
                <a:srgbClr val="0877FF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143250" y="34861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局域网通信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143500" y="3486150"/>
            <a:ext cx="611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UDP 发现、TCP 收发、并发连接处理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723900" y="4171950"/>
            <a:ext cx="2038350" cy="495300"/>
          </a:xfrm>
          <a:prstGeom prst="roundRect">
            <a:avLst>
              <a:gd name="adj" fmla="val 23077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95350" y="41910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877FF"/>
                </a:solidFill>
              </a:defRPr>
            </a:pPr>
            <a:r>
              <a:rPr sz="1350" b="1">
                <a:solidFill>
                  <a:srgbClr val="0877FF"/>
                </a:solidFill>
              </a:rPr>
              <a:t>SQLite</a:t>
            </a:r>
            <a:endParaRPr sz="1350" b="1">
              <a:solidFill>
                <a:srgbClr val="0877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143250" y="41719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本地持久化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5143500" y="4171950"/>
            <a:ext cx="611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稳定身份、私聊历史、群组与成员关系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21" name="矩形: 圆角 20"/>
          <p:cNvSpPr>
            <a:spLocks noGrp="1"/>
          </p:cNvSpPr>
          <p:nvPr/>
        </p:nvSpPr>
        <p:spPr>
          <a:xfrm>
            <a:off x="723900" y="4857750"/>
            <a:ext cx="2038350" cy="495300"/>
          </a:xfrm>
          <a:prstGeom prst="roundRect">
            <a:avLst>
              <a:gd name="adj" fmla="val 23077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895350" y="4876800"/>
            <a:ext cx="1695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877FF"/>
                </a:solidFill>
              </a:defRPr>
            </a:pPr>
            <a:r>
              <a:rPr sz="1350" b="1">
                <a:solidFill>
                  <a:srgbClr val="0877FF"/>
                </a:solidFill>
              </a:rPr>
              <a:t>CMake</a:t>
            </a:r>
            <a:endParaRPr sz="1350" b="1">
              <a:solidFill>
                <a:srgbClr val="0877FF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3143250" y="4857750"/>
            <a:ext cx="1809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工程组织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5143500" y="4857750"/>
            <a:ext cx="61150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统一编译 QML、数据库与网络模块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25" name="矩形: 圆角 24"/>
          <p:cNvSpPr>
            <a:spLocks noGrp="1"/>
          </p:cNvSpPr>
          <p:nvPr/>
        </p:nvSpPr>
        <p:spPr>
          <a:xfrm>
            <a:off x="723900" y="5734050"/>
            <a:ext cx="10782300" cy="438150"/>
          </a:xfrm>
          <a:prstGeom prst="roundRect">
            <a:avLst>
              <a:gd name="adj" fmla="val 26087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52500" y="5753100"/>
            <a:ext cx="103251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分层结果：界面表达状态，AppController 编排流程，网络层负责传输，数据库保证事实一致。</a:t>
            </a:r>
            <a:endParaRPr sz="1350" b="1">
              <a:solidFill>
                <a:srgbClr val="0B1220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05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2781300" cy="6858000"/>
          </a:xfrm>
          <a:prstGeom prst="rect">
            <a:avLst/>
          </a:prstGeom>
          <a:solidFill>
            <a:srgbClr val="18A5A0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1104900"/>
            <a:ext cx="1714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01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2781300"/>
            <a:ext cx="1104900" cy="38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3009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开发者板块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619500" y="1695450"/>
            <a:ext cx="685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何志远</a:t>
            </a:r>
            <a:endParaRPr sz="43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638550" y="262890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AEEBE8"/>
                </a:solidFill>
              </a:defRPr>
            </a:pPr>
            <a:r>
              <a:rPr sz="1875" b="1">
                <a:solidFill>
                  <a:srgbClr val="AEEBE8"/>
                </a:solidFill>
              </a:rPr>
              <a:t>数据层与业务控制</a:t>
            </a:r>
            <a:endParaRPr sz="1875" b="1">
              <a:solidFill>
                <a:srgbClr val="AEEB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638550" y="33718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CBD5E6"/>
                </a:solidFill>
              </a:defRPr>
            </a:pPr>
            <a:r>
              <a:rPr sz="1425" b="0">
                <a:solidFill>
                  <a:srgbClr val="CBD5E6"/>
                </a:solidFill>
              </a:rPr>
              <a:t>我的重点：让用户身份、历史记录与跨层流程保持稳定一致。</a:t>
            </a:r>
            <a:endParaRPr sz="1425" b="0">
              <a:solidFill>
                <a:srgbClr val="CBD5E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5375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190B2"/>
                </a:solidFill>
              </a:defRPr>
            </a:pPr>
            <a:r>
              <a:rPr sz="900" b="0">
                <a:solidFill>
                  <a:srgbClr val="8190B2"/>
                </a:solidFill>
              </a:rPr>
              <a:t>06</a:t>
            </a:r>
            <a:endParaRPr sz="900" b="0">
              <a:solidFill>
                <a:srgbClr val="8190B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A5A0"/>
                </a:solidFill>
              </a:defRPr>
            </a:pPr>
            <a:r>
              <a:rPr sz="1050" b="1">
                <a:solidFill>
                  <a:srgbClr val="18A5A0"/>
                </a:solidFill>
              </a:rPr>
              <a:t>何志远 · 我的工作</a:t>
            </a:r>
            <a:endParaRPr sz="1050" b="1">
              <a:solidFill>
                <a:srgbClr val="18A5A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把“IP 会变”转化为“用户身份不变”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我让数据层提供稳定事实，再通过 AppController 交给网络与界面。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133600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18A5A0"/>
                </a:solidFill>
              </a:defRPr>
            </a:pPr>
            <a:r>
              <a:rPr sz="1650" b="1">
                <a:solidFill>
                  <a:srgbClr val="18A5A0"/>
                </a:solidFill>
              </a:rPr>
              <a:t>我的贡献</a:t>
            </a:r>
            <a:endParaRPr sz="1650" b="1">
              <a:solidFill>
                <a:srgbClr val="18A5A0"/>
              </a:solidFill>
            </a:endParaRPr>
          </a:p>
        </p:txBody>
      </p:sp>
      <p:sp>
        <p:nvSpPr>
          <p:cNvPr id="6" name="椭圆 5"/>
          <p:cNvSpPr>
            <a:spLocks noGrp="1"/>
          </p:cNvSpPr>
          <p:nvPr/>
        </p:nvSpPr>
        <p:spPr>
          <a:xfrm>
            <a:off x="723900" y="2667000"/>
            <a:ext cx="76200" cy="76200"/>
          </a:xfrm>
          <a:prstGeom prst="ellipse">
            <a:avLst/>
          </a:prstGeom>
          <a:solidFill>
            <a:srgbClr val="18A5A0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33450" y="2590800"/>
            <a:ext cx="3886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设计并实现 SQLite 数据层</a:t>
            </a:r>
            <a:endParaRPr sz="1500" b="0">
              <a:solidFill>
                <a:srgbClr val="0B1220"/>
              </a:solidFill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723900" y="3143250"/>
            <a:ext cx="76200" cy="76200"/>
          </a:xfrm>
          <a:prstGeom prst="ellipse">
            <a:avLst/>
          </a:prstGeom>
          <a:solidFill>
            <a:srgbClr val="18A5A0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933450" y="3067050"/>
            <a:ext cx="3886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拆分用户、私聊、群聊数据访问类</a:t>
            </a:r>
            <a:endParaRPr sz="1500" b="0">
              <a:solidFill>
                <a:srgbClr val="0B1220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723900" y="3619500"/>
            <a:ext cx="76200" cy="76200"/>
          </a:xfrm>
          <a:prstGeom prst="ellipse">
            <a:avLst/>
          </a:prstGeom>
          <a:solidFill>
            <a:srgbClr val="18A5A0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933450" y="3543300"/>
            <a:ext cx="3886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0B1220"/>
                </a:solidFill>
              </a:defRPr>
            </a:pPr>
            <a:r>
              <a:rPr sz="1500" b="0">
                <a:solidFill>
                  <a:srgbClr val="0B1220"/>
                </a:solidFill>
              </a:rPr>
              <a:t>实现永久 peerId 与历史记录关联</a:t>
            </a:r>
            <a:endParaRPr sz="1500" b="0">
              <a:solidFill>
                <a:srgbClr val="0B1220"/>
              </a:solidFill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723900" y="4095750"/>
            <a:ext cx="76200" cy="76200"/>
          </a:xfrm>
          <a:prstGeom prst="ellipse">
            <a:avLst/>
          </a:prstGeom>
          <a:solidFill>
            <a:srgbClr val="18A5A0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933450" y="4019550"/>
            <a:ext cx="3886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0B1220"/>
                </a:solidFill>
              </a:defRPr>
            </a:pPr>
            <a:r>
              <a:rPr sz="1425" b="0">
                <a:solidFill>
                  <a:srgbClr val="0B1220"/>
                </a:solidFill>
              </a:rPr>
              <a:t>参与 AppController：数据、初始化与登录 / 群聊接入</a:t>
            </a:r>
            <a:endParaRPr sz="1425" b="0">
              <a:solidFill>
                <a:srgbClr val="0B1220"/>
              </a:solidFill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5219700" y="2133600"/>
            <a:ext cx="6286500" cy="3181350"/>
          </a:xfrm>
          <a:prstGeom prst="roundRect">
            <a:avLst>
              <a:gd name="adj" fmla="val 4790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5505450" y="2343150"/>
            <a:ext cx="542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82DCD8"/>
                </a:solidFill>
              </a:defRPr>
            </a:pPr>
            <a:r>
              <a:rPr sz="1050" b="1">
                <a:solidFill>
                  <a:srgbClr val="82DCD8"/>
                </a:solidFill>
              </a:rPr>
              <a:t>代码证据 · Database/peerdatabase.cpp</a:t>
            </a:r>
            <a:endParaRPr sz="1050" b="1">
              <a:solidFill>
                <a:srgbClr val="82DCD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505450" y="2762250"/>
            <a:ext cx="5429250" cy="2038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CREATE TABLE IF NOT EXISTS local_peer_id(</a:t>
            </a:r>
            <a:endParaRPr sz="1275" b="0">
              <a:solidFill>
                <a:srgbClr val="FFFFFF"/>
              </a:solidFill>
            </a:endParaRP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id INTEGER PRIMARY KEY CHECK(id = 1),</a:t>
            </a:r>
            <a:endParaRPr sz="1275" b="0">
              <a:solidFill>
                <a:srgbClr val="FFFFFF"/>
              </a:solidFill>
            </a:endParaRP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  peer_id TEXT NOT NULL UNIQUE</a:t>
            </a:r>
            <a:endParaRPr sz="1275" b="0">
              <a:solidFill>
                <a:srgbClr val="FFFFFF"/>
              </a:solidFill>
            </a:endParaRP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);</a:t>
            </a:r>
            <a:endParaRPr sz="1275" b="0">
              <a:solidFill>
                <a:srgbClr val="FFFFFF"/>
              </a:solidFill>
            </a:endParaRPr>
          </a:p>
          <a:p>
            <a:endParaRPr sz="1275" b="0">
              <a:solidFill>
                <a:srgbClr val="FFFFFF"/>
              </a:solidFill>
            </a:endParaRP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INSERT OR IGNORE INTO local_peer_id</a:t>
            </a:r>
            <a:endParaRPr sz="1275" b="0">
              <a:solidFill>
                <a:srgbClr val="FFFFFF"/>
              </a:solidFill>
            </a:endParaRPr>
          </a:p>
          <a:p>
            <a:pPr algn="l">
              <a:defRPr sz="1275" b="0">
                <a:solidFill>
                  <a:srgbClr val="FFFFFF"/>
                </a:solidFill>
              </a:defRPr>
            </a:pPr>
            <a:r>
              <a:rPr sz="1275" b="0">
                <a:solidFill>
                  <a:srgbClr val="FFFFFF"/>
                </a:solidFill>
              </a:rPr>
              <a:t>VALUES(1, :peer_id);</a:t>
            </a:r>
            <a:endParaRPr sz="1275" b="0">
              <a:solidFill>
                <a:srgbClr val="FFFFFF"/>
              </a:solidFill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723900" y="4895850"/>
            <a:ext cx="4095750" cy="685800"/>
          </a:xfrm>
          <a:prstGeom prst="roundRect">
            <a:avLst>
              <a:gd name="adj" fmla="val 16667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933450" y="5010150"/>
            <a:ext cx="36957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我的设计判断：IP 只是地址，peerId 才是身份。</a:t>
            </a:r>
            <a:endParaRPr sz="1350" b="1">
              <a:solidFill>
                <a:srgbClr val="0B122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07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A5A0"/>
                </a:solidFill>
              </a:defRPr>
            </a:pPr>
            <a:r>
              <a:rPr sz="1050" b="1">
                <a:solidFill>
                  <a:srgbClr val="18A5A0"/>
                </a:solidFill>
              </a:rPr>
              <a:t>何志远 · 关键代码</a:t>
            </a:r>
            <a:endParaRPr sz="1050" b="1">
              <a:solidFill>
                <a:srgbClr val="18A5A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用初始化顺序固化了控制层的设计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我先恢复稳定身份与本地状态，再启动网络线程，避免一次运行中出现两个身份。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: 圆角 4"/>
          <p:cNvSpPr>
            <a:spLocks noGrp="1"/>
          </p:cNvSpPr>
          <p:nvPr/>
        </p:nvSpPr>
        <p:spPr>
          <a:xfrm>
            <a:off x="723900" y="2133600"/>
            <a:ext cx="6553200" cy="3600450"/>
          </a:xfrm>
          <a:prstGeom prst="roundRect">
            <a:avLst>
              <a:gd name="adj" fmla="val 4233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71550" y="2305050"/>
            <a:ext cx="6057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A5A0"/>
                </a:solidFill>
              </a:defRPr>
            </a:pPr>
            <a:r>
              <a:rPr sz="1050" b="1">
                <a:solidFill>
                  <a:srgbClr val="18A5A0"/>
                </a:solidFill>
              </a:rPr>
              <a:t>qml/appcontroller.cpp · 323–354</a:t>
            </a:r>
            <a:endParaRPr sz="1050" b="1">
              <a:solidFill>
                <a:srgbClr val="18A5A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2647950"/>
            <a:ext cx="6057900" cy="2914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loadOrCreateLocalPeerId(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m_chat.localId(), persistentLocalPeerId);</a:t>
            </a:r>
            <a:endParaRPr sz="1200" b="0">
              <a:solidFill>
                <a:srgbClr val="FFFFFF"/>
              </a:solidFill>
            </a:endParaRPr>
          </a:p>
          <a:p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m_chat.setLocalId(persistentLocalPeerId);</a:t>
            </a:r>
            <a:endParaRPr sz="1200" b="0">
              <a:solidFill>
                <a:srgbClr val="FFFFFF"/>
              </a:solidFill>
            </a:endParaRPr>
          </a:p>
          <a:p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refreshPeers();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refreshGroups();</a:t>
            </a:r>
            <a:endParaRPr sz="1200" b="0">
              <a:solidFill>
                <a:srgbClr val="FFFFFF"/>
              </a:solidFill>
            </a:endParaRPr>
          </a:p>
          <a:p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m_chat.start(normalizedName);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m_translateFile.start();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734300" y="22479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8A5A0"/>
                </a:solidFill>
              </a:defRPr>
            </a:pPr>
            <a:r>
              <a:rPr sz="1275" b="1">
                <a:solidFill>
                  <a:srgbClr val="18A5A0"/>
                </a:solidFill>
              </a:rPr>
              <a:t>01</a:t>
            </a:r>
            <a:endParaRPr sz="1275" b="1">
              <a:solidFill>
                <a:srgbClr val="18A5A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286750" y="222885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身份先稳定</a:t>
            </a:r>
            <a:endParaRPr sz="1650" b="1">
              <a:solidFill>
                <a:srgbClr val="0B122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7734300" y="2628900"/>
            <a:ext cx="3505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永久 peerId 必须先回写网络层。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734300" y="3219450"/>
            <a:ext cx="35052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734300" y="333375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8A5A0"/>
                </a:solidFill>
              </a:defRPr>
            </a:pPr>
            <a:r>
              <a:rPr sz="1275" b="1">
                <a:solidFill>
                  <a:srgbClr val="18A5A0"/>
                </a:solidFill>
              </a:rPr>
              <a:t>02</a:t>
            </a:r>
            <a:endParaRPr sz="1275" b="1">
              <a:solidFill>
                <a:srgbClr val="18A5A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286750" y="331470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状态先恢复</a:t>
            </a:r>
            <a:endParaRPr sz="1650" b="1">
              <a:solidFill>
                <a:srgbClr val="0B122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734300" y="3714750"/>
            <a:ext cx="3505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先恢复历史用户和群聊，启动即有内容。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734300" y="4305300"/>
            <a:ext cx="35052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734300" y="4419600"/>
            <a:ext cx="419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8A5A0"/>
                </a:solidFill>
              </a:defRPr>
            </a:pPr>
            <a:r>
              <a:rPr sz="1275" b="1">
                <a:solidFill>
                  <a:srgbClr val="18A5A0"/>
                </a:solidFill>
              </a:rPr>
              <a:t>03</a:t>
            </a:r>
            <a:endParaRPr sz="1275" b="1">
              <a:solidFill>
                <a:srgbClr val="18A5A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86750" y="4400550"/>
            <a:ext cx="2781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服务后启动</a:t>
            </a:r>
            <a:endParaRPr sz="1650" b="1">
              <a:solidFill>
                <a:srgbClr val="0B122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734300" y="4800600"/>
            <a:ext cx="3505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最后再开网络线程，减少竞态和状态漂移。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08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A5A0"/>
                </a:solidFill>
              </a:defRPr>
            </a:pPr>
            <a:r>
              <a:rPr sz="1050" b="1">
                <a:solidFill>
                  <a:srgbClr val="18A5A0"/>
                </a:solidFill>
              </a:rPr>
              <a:t>何志远 · 数据设计</a:t>
            </a:r>
            <a:endParaRPr sz="1050" b="1">
              <a:solidFill>
                <a:srgbClr val="18A5A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用关系拆分与事务边界保证聊天数据可追踪、可回滚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数据库不只是存文件，而是定义用户、会话、成员和消息之间的事实关系。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23900" y="2095500"/>
            <a:ext cx="45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8A5A0"/>
                </a:solidFill>
              </a:defRPr>
            </a:pPr>
            <a:r>
              <a:rPr sz="1500" b="1">
                <a:solidFill>
                  <a:srgbClr val="18A5A0"/>
                </a:solidFill>
              </a:rPr>
              <a:t>01</a:t>
            </a:r>
            <a:endParaRPr sz="1500" b="1">
              <a:solidFill>
                <a:srgbClr val="18A5A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33500" y="209550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local_peer_id</a:t>
            </a:r>
            <a:endParaRPr sz="1425" b="1">
              <a:solidFill>
                <a:srgbClr val="0B122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848100" y="20955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8A5A0"/>
                </a:solidFill>
              </a:defRPr>
            </a:pPr>
            <a:r>
              <a:rPr sz="1350" b="1">
                <a:solidFill>
                  <a:srgbClr val="18A5A0"/>
                </a:solidFill>
              </a:rPr>
              <a:t>稳定本机身份</a:t>
            </a:r>
            <a:endParaRPr sz="1350" b="1">
              <a:solidFill>
                <a:srgbClr val="18A5A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829300" y="2095500"/>
            <a:ext cx="542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单行表 + UNIQUE，首次生成后持续复用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33500" y="2724150"/>
            <a:ext cx="992505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876550"/>
            <a:ext cx="45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8A5A0"/>
                </a:solidFill>
              </a:defRPr>
            </a:pPr>
            <a:r>
              <a:rPr sz="1500" b="1">
                <a:solidFill>
                  <a:srgbClr val="18A5A0"/>
                </a:solidFill>
              </a:rPr>
              <a:t>02</a:t>
            </a:r>
            <a:endParaRPr sz="1500" b="1">
              <a:solidFill>
                <a:srgbClr val="18A5A0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33500" y="28765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peers</a:t>
            </a:r>
            <a:endParaRPr sz="1425" b="1">
              <a:solidFill>
                <a:srgbClr val="0B122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848100" y="28765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8A5A0"/>
                </a:solidFill>
              </a:defRPr>
            </a:pPr>
            <a:r>
              <a:rPr sz="1350" b="1">
                <a:solidFill>
                  <a:srgbClr val="18A5A0"/>
                </a:solidFill>
              </a:rPr>
              <a:t>联系人事实</a:t>
            </a:r>
            <a:endParaRPr sz="1350" b="1">
              <a:solidFill>
                <a:srgbClr val="18A5A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829300" y="2876550"/>
            <a:ext cx="542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peerId 关联昵称、IP 与最近在线状态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33500" y="3505200"/>
            <a:ext cx="992505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23900" y="3657600"/>
            <a:ext cx="45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8A5A0"/>
                </a:solidFill>
              </a:defRPr>
            </a:pPr>
            <a:r>
              <a:rPr sz="1500" b="1">
                <a:solidFill>
                  <a:srgbClr val="18A5A0"/>
                </a:solidFill>
              </a:rPr>
              <a:t>03</a:t>
            </a:r>
            <a:endParaRPr sz="1500" b="1">
              <a:solidFill>
                <a:srgbClr val="18A5A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333500" y="365760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private_messages</a:t>
            </a:r>
            <a:endParaRPr sz="1425" b="1">
              <a:solidFill>
                <a:srgbClr val="0B122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3848100" y="365760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8A5A0"/>
                </a:solidFill>
              </a:defRPr>
            </a:pPr>
            <a:r>
              <a:rPr sz="1350" b="1">
                <a:solidFill>
                  <a:srgbClr val="18A5A0"/>
                </a:solidFill>
              </a:rPr>
              <a:t>私聊历史</a:t>
            </a:r>
            <a:endParaRPr sz="1350" b="1">
              <a:solidFill>
                <a:srgbClr val="18A5A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829300" y="3657600"/>
            <a:ext cx="542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发送方、接收方、内容、时间与方向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33500" y="4286250"/>
            <a:ext cx="992505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3900" y="4438650"/>
            <a:ext cx="45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8A5A0"/>
                </a:solidFill>
              </a:defRPr>
            </a:pPr>
            <a:r>
              <a:rPr sz="1500" b="1">
                <a:solidFill>
                  <a:srgbClr val="18A5A0"/>
                </a:solidFill>
              </a:rPr>
              <a:t>04</a:t>
            </a:r>
            <a:endParaRPr sz="1500" b="1">
              <a:solidFill>
                <a:srgbClr val="18A5A0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1333500" y="4438650"/>
            <a:ext cx="228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groups / members</a:t>
            </a:r>
            <a:endParaRPr sz="1425" b="1">
              <a:solidFill>
                <a:srgbClr val="0B122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3848100" y="4438650"/>
            <a:ext cx="1809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8A5A0"/>
                </a:solidFill>
              </a:defRPr>
            </a:pPr>
            <a:r>
              <a:rPr sz="1350" b="1">
                <a:solidFill>
                  <a:srgbClr val="18A5A0"/>
                </a:solidFill>
              </a:rPr>
              <a:t>群聊关系</a:t>
            </a:r>
            <a:endParaRPr sz="1350" b="1">
              <a:solidFill>
                <a:srgbClr val="18A5A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5829300" y="4438650"/>
            <a:ext cx="5429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群信息与成员列表分表，外键维持引用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24" name="矩形: 圆角 23"/>
          <p:cNvSpPr>
            <a:spLocks noGrp="1"/>
          </p:cNvSpPr>
          <p:nvPr/>
        </p:nvSpPr>
        <p:spPr>
          <a:xfrm>
            <a:off x="723900" y="5334000"/>
            <a:ext cx="10782300" cy="628650"/>
          </a:xfrm>
          <a:prstGeom prst="roundRect">
            <a:avLst>
              <a:gd name="adj" fmla="val 18182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71550" y="5410200"/>
            <a:ext cx="10287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群组写入采用事务：先写群信息，再写全部成员；任一步失败就 rollback，避免出现“有群无成员”的半成品。</a:t>
            </a:r>
            <a:endParaRPr sz="1350" b="1">
              <a:solidFill>
                <a:srgbClr val="0B1220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09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8A5A0"/>
                </a:solidFill>
              </a:defRPr>
            </a:pPr>
            <a:r>
              <a:rPr sz="1050" b="1">
                <a:solidFill>
                  <a:srgbClr val="18A5A0"/>
                </a:solidFill>
              </a:rPr>
              <a:t>何志远 · 重难点与设计</a:t>
            </a:r>
            <a:endParaRPr sz="1050" b="1">
              <a:solidFill>
                <a:srgbClr val="18A5A0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重点解决数据一致性与跨层协同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我的每个解决方案，都对应一个明确的设计原则。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2133600"/>
            <a:ext cx="552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8A5A0"/>
                </a:solidFill>
              </a:defRPr>
            </a:pPr>
            <a:r>
              <a:rPr sz="1800" b="1">
                <a:solidFill>
                  <a:srgbClr val="18A5A0"/>
                </a:solidFill>
              </a:rPr>
              <a:t>01</a:t>
            </a:r>
            <a:endParaRPr sz="1800" b="1">
              <a:solidFill>
                <a:srgbClr val="18A5A0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371600" y="213360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身份不能依赖 IP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7" name="矩形: 圆角 6"/>
          <p:cNvSpPr>
            <a:spLocks noGrp="1"/>
          </p:cNvSpPr>
          <p:nvPr/>
        </p:nvSpPr>
        <p:spPr>
          <a:xfrm>
            <a:off x="4324350" y="2152650"/>
            <a:ext cx="7181850" cy="476250"/>
          </a:xfrm>
          <a:prstGeom prst="roundRect">
            <a:avLst>
              <a:gd name="adj" fmla="val 24000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4552950" y="2162175"/>
            <a:ext cx="670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首次生成 UUID 并永久保存；IP 变化只更新地址。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42950" y="2857500"/>
            <a:ext cx="552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8A5A0"/>
                </a:solidFill>
              </a:defRPr>
            </a:pPr>
            <a:r>
              <a:rPr sz="1800" b="1">
                <a:solidFill>
                  <a:srgbClr val="18A5A0"/>
                </a:solidFill>
              </a:rPr>
              <a:t>02</a:t>
            </a:r>
            <a:endParaRPr sz="1800" b="1">
              <a:solidFill>
                <a:srgbClr val="18A5A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285750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群数据不能只写一半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11" name="矩形: 圆角 10"/>
          <p:cNvSpPr>
            <a:spLocks noGrp="1"/>
          </p:cNvSpPr>
          <p:nvPr/>
        </p:nvSpPr>
        <p:spPr>
          <a:xfrm>
            <a:off x="4324350" y="2876550"/>
            <a:ext cx="7181850" cy="476250"/>
          </a:xfrm>
          <a:prstGeom prst="roundRect">
            <a:avLst>
              <a:gd name="adj" fmla="val 24000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552950" y="2886075"/>
            <a:ext cx="670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群信息与全部成员放在同一事务中；失败整体回滚。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3581400"/>
            <a:ext cx="552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18A5A0"/>
                </a:solidFill>
              </a:defRPr>
            </a:pPr>
            <a:r>
              <a:rPr sz="1800" b="1">
                <a:solidFill>
                  <a:srgbClr val="18A5A0"/>
                </a:solidFill>
              </a:rPr>
              <a:t>03</a:t>
            </a:r>
            <a:endParaRPr sz="1800" b="1">
              <a:solidFill>
                <a:srgbClr val="18A5A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71600" y="358140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控制层容易变成巨石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4324350" y="3600450"/>
            <a:ext cx="7181850" cy="476250"/>
          </a:xfrm>
          <a:prstGeom prst="roundRect">
            <a:avLst>
              <a:gd name="adj" fmla="val 24000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552950" y="3609975"/>
            <a:ext cx="67056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拆分 DatabaseCore / Peer / Private / Group，并固定初始化顺序。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23900" y="4400550"/>
            <a:ext cx="107823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46482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8A5A0"/>
                </a:solidFill>
              </a:defRPr>
            </a:pPr>
            <a:r>
              <a:rPr sz="1500" b="1">
                <a:solidFill>
                  <a:srgbClr val="18A5A0"/>
                </a:solidFill>
              </a:rPr>
              <a:t>我的设计体现</a:t>
            </a:r>
            <a:endParaRPr sz="1500" b="1">
              <a:solidFill>
                <a:srgbClr val="18A5A0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247900" y="45910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稳定身份</a:t>
            </a:r>
            <a:endParaRPr sz="1650" b="1">
              <a:solidFill>
                <a:srgbClr val="0B122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247900" y="49530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UUID 跨网络变化保持关联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295900" y="45910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lang="zh-CN" sz="1650" b="1">
                <a:solidFill>
                  <a:srgbClr val="0B1220"/>
                </a:solidFill>
                <a:ea typeface="宋体" charset="0"/>
              </a:rPr>
              <a:t>安全</a:t>
            </a:r>
            <a:r>
              <a:rPr sz="1650" b="1">
                <a:solidFill>
                  <a:srgbClr val="0B1220"/>
                </a:solidFill>
              </a:rPr>
              <a:t>写入</a:t>
            </a:r>
            <a:endParaRPr sz="1650" b="1">
              <a:solidFill>
                <a:srgbClr val="0B1220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295900" y="49530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事务 + 外键级联保证一致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343900" y="45910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单一职责</a:t>
            </a:r>
            <a:endParaRPr sz="1650" b="1">
              <a:solidFill>
                <a:srgbClr val="0B1220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43900" y="4953000"/>
            <a:ext cx="2571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数据访问拆分类、控制层定顺序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10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2781300" cy="6858000"/>
          </a:xfrm>
          <a:prstGeom prst="rect">
            <a:avLst/>
          </a:prstGeom>
          <a:solidFill>
            <a:srgbClr val="F2A21B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1104900"/>
            <a:ext cx="1714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02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2781300"/>
            <a:ext cx="1104900" cy="38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3009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开发者板块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619500" y="1695450"/>
            <a:ext cx="685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周城伟</a:t>
            </a:r>
            <a:endParaRPr sz="43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638550" y="262890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FFE0A0"/>
                </a:solidFill>
              </a:defRPr>
            </a:pPr>
            <a:r>
              <a:rPr sz="1875" b="1">
                <a:solidFill>
                  <a:srgbClr val="FFE0A0"/>
                </a:solidFill>
              </a:rPr>
              <a:t>网络通信与文件传输</a:t>
            </a:r>
            <a:endParaRPr sz="1875" b="1">
              <a:solidFill>
                <a:srgbClr val="FFE0A0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638550" y="33718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CBD5E6"/>
                </a:solidFill>
              </a:defRPr>
            </a:pPr>
            <a:r>
              <a:rPr sz="1425" b="0">
                <a:solidFill>
                  <a:srgbClr val="CBD5E6"/>
                </a:solidFill>
              </a:rPr>
              <a:t>我的重点：让发现、连接、收发与清理在复杂网络状态下仍然可控。</a:t>
            </a:r>
            <a:endParaRPr sz="1425" b="0">
              <a:solidFill>
                <a:srgbClr val="CBD5E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5375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190B2"/>
                </a:solidFill>
              </a:defRPr>
            </a:pPr>
            <a:r>
              <a:rPr sz="900" b="0">
                <a:solidFill>
                  <a:srgbClr val="8190B2"/>
                </a:solidFill>
              </a:rPr>
              <a:t>11</a:t>
            </a:r>
            <a:endParaRPr sz="900" b="0">
              <a:solidFill>
                <a:srgbClr val="8190B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2A21B"/>
                </a:solidFill>
              </a:defRPr>
            </a:pPr>
            <a:r>
              <a:rPr sz="1050" b="1">
                <a:solidFill>
                  <a:srgbClr val="F2A21B"/>
                </a:solidFill>
              </a:rPr>
              <a:t>周城伟 · 我的工作</a:t>
            </a:r>
            <a:endParaRPr sz="1050" b="1">
              <a:solidFill>
                <a:srgbClr val="F2A21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endParaRPr sz="2850" b="1">
              <a:solidFill>
                <a:srgbClr val="0B12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endParaRPr sz="1275" b="0">
              <a:solidFill>
                <a:srgbClr val="65728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2247900"/>
            <a:ext cx="3200400" cy="2095500"/>
          </a:xfrm>
          <a:prstGeom prst="roundRect">
            <a:avLst>
              <a:gd name="adj" fmla="val 7273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24574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发现</a:t>
            </a:r>
            <a:endParaRPr sz="1800" b="1">
              <a:solidFill>
                <a:srgbClr val="0B122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800350" y="2457450"/>
            <a:ext cx="800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F2A21B"/>
                </a:solidFill>
              </a:defRPr>
            </a:pPr>
            <a:r>
              <a:rPr sz="1275" b="1">
                <a:solidFill>
                  <a:srgbClr val="F2A21B"/>
                </a:solidFill>
              </a:rPr>
              <a:t>UDP</a:t>
            </a:r>
            <a:endParaRPr sz="1275" b="1">
              <a:solidFill>
                <a:srgbClr val="F2A21B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71550" y="2933700"/>
            <a:ext cx="2647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F2A21B"/>
                </a:solidFill>
              </a:defRPr>
            </a:pPr>
            <a:r>
              <a:rPr sz="2925" b="1">
                <a:solidFill>
                  <a:srgbClr val="F2A21B"/>
                </a:solidFill>
              </a:rPr>
              <a:t>45454</a:t>
            </a:r>
            <a:endParaRPr sz="2925" b="1">
              <a:solidFill>
                <a:srgbClr val="F2A21B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71550" y="3581400"/>
            <a:ext cx="2647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周期广播</a:t>
            </a:r>
            <a:endParaRPr sz="1275" b="0">
              <a:solidFill>
                <a:srgbClr val="65728A"/>
              </a:solidFill>
            </a:endParaRPr>
          </a:p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离线检测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924300" y="3009900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2A21B"/>
                </a:solidFill>
              </a:defRPr>
            </a:pPr>
            <a:r>
              <a:rPr sz="2100" b="1">
                <a:solidFill>
                  <a:srgbClr val="F2A21B"/>
                </a:solidFill>
              </a:rPr>
              <a:t>→</a:t>
            </a:r>
            <a:endParaRPr sz="2100" b="1">
              <a:solidFill>
                <a:srgbClr val="F2A21B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343400" y="2247900"/>
            <a:ext cx="3200400" cy="2095500"/>
          </a:xfrm>
          <a:prstGeom prst="roundRect">
            <a:avLst>
              <a:gd name="adj" fmla="val 7273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610100" y="24574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消息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38900" y="2457450"/>
            <a:ext cx="800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F2A21B"/>
                </a:solidFill>
              </a:defRPr>
            </a:pPr>
            <a:r>
              <a:rPr sz="1275" b="1">
                <a:solidFill>
                  <a:srgbClr val="F2A21B"/>
                </a:solidFill>
              </a:rPr>
              <a:t>TCP</a:t>
            </a:r>
            <a:endParaRPr sz="1275" b="1">
              <a:solidFill>
                <a:srgbClr val="F2A21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10100" y="2933700"/>
            <a:ext cx="2647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F2A21B"/>
                </a:solidFill>
              </a:defRPr>
            </a:pPr>
            <a:r>
              <a:rPr sz="2925" b="1">
                <a:solidFill>
                  <a:srgbClr val="F2A21B"/>
                </a:solidFill>
              </a:rPr>
              <a:t>45455</a:t>
            </a:r>
            <a:endParaRPr sz="2925" b="1">
              <a:solidFill>
                <a:srgbClr val="F2A21B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10100" y="3581400"/>
            <a:ext cx="2647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CCD5E8"/>
                </a:solidFill>
              </a:defRPr>
            </a:pPr>
            <a:r>
              <a:rPr sz="1275" b="0">
                <a:solidFill>
                  <a:srgbClr val="CCD5E8"/>
                </a:solidFill>
              </a:rPr>
              <a:t>私聊 + 群聊</a:t>
            </a:r>
            <a:endParaRPr sz="1275" b="0">
              <a:solidFill>
                <a:srgbClr val="CCD5E8"/>
              </a:solidFill>
            </a:endParaRPr>
          </a:p>
          <a:p>
            <a:pPr algn="l">
              <a:defRPr sz="1275" b="0">
                <a:solidFill>
                  <a:srgbClr val="CCD5E8"/>
                </a:solidFill>
              </a:defRPr>
            </a:pPr>
            <a:r>
              <a:rPr sz="1275" b="0">
                <a:solidFill>
                  <a:srgbClr val="CCD5E8"/>
                </a:solidFill>
              </a:rPr>
              <a:t>可靠传输</a:t>
            </a:r>
            <a:endParaRPr sz="1275" b="0">
              <a:solidFill>
                <a:srgbClr val="CCD5E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562850" y="3009900"/>
            <a:ext cx="4000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F2A21B"/>
                </a:solidFill>
              </a:defRPr>
            </a:pPr>
            <a:r>
              <a:rPr sz="2100" b="1">
                <a:solidFill>
                  <a:srgbClr val="F2A21B"/>
                </a:solidFill>
              </a:rPr>
              <a:t>→</a:t>
            </a:r>
            <a:endParaRPr sz="2100" b="1">
              <a:solidFill>
                <a:srgbClr val="F2A21B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7981950" y="2247900"/>
            <a:ext cx="3200400" cy="2095500"/>
          </a:xfrm>
          <a:prstGeom prst="roundRect">
            <a:avLst>
              <a:gd name="adj" fmla="val 7273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248650" y="2457450"/>
            <a:ext cx="1143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0B1220"/>
                </a:solidFill>
              </a:defRPr>
            </a:pPr>
            <a:r>
              <a:rPr sz="1800" b="1">
                <a:solidFill>
                  <a:srgbClr val="0B1220"/>
                </a:solidFill>
              </a:rPr>
              <a:t>文件</a:t>
            </a:r>
            <a:endParaRPr sz="1800" b="1">
              <a:solidFill>
                <a:srgbClr val="0B122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077450" y="2457450"/>
            <a:ext cx="800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275" b="1">
                <a:solidFill>
                  <a:srgbClr val="F2A21B"/>
                </a:solidFill>
              </a:defRPr>
            </a:pPr>
            <a:r>
              <a:rPr sz="1275" b="1">
                <a:solidFill>
                  <a:srgbClr val="F2A21B"/>
                </a:solidFill>
              </a:rPr>
              <a:t>TCP</a:t>
            </a:r>
            <a:endParaRPr sz="1275" b="1">
              <a:solidFill>
                <a:srgbClr val="F2A21B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248650" y="2933700"/>
            <a:ext cx="26479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925" b="1">
                <a:solidFill>
                  <a:srgbClr val="F2A21B"/>
                </a:solidFill>
              </a:defRPr>
            </a:pPr>
            <a:r>
              <a:rPr sz="2925" b="1">
                <a:solidFill>
                  <a:srgbClr val="F2A21B"/>
                </a:solidFill>
              </a:rPr>
              <a:t>45456</a:t>
            </a:r>
            <a:endParaRPr sz="2925" b="1">
              <a:solidFill>
                <a:srgbClr val="F2A21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248650" y="3581400"/>
            <a:ext cx="2647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确认 + 分块</a:t>
            </a:r>
            <a:endParaRPr sz="1275" b="0">
              <a:solidFill>
                <a:srgbClr val="65728A"/>
              </a:solidFill>
            </a:endParaRPr>
          </a:p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进度反馈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23900" y="4762500"/>
            <a:ext cx="133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A21B"/>
                </a:solidFill>
              </a:defRPr>
            </a:pPr>
            <a:endParaRPr sz="1500" b="1">
              <a:solidFill>
                <a:srgbClr val="F2A21B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152650" y="4724400"/>
            <a:ext cx="872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P2P 群聊全连接 · 协议序列化 · 文件请求/确认 · 退群/解散 · 在线过期清理</a:t>
            </a:r>
            <a:endParaRPr sz="1350" b="0">
              <a:solidFill>
                <a:srgbClr val="0B1220"/>
              </a:solidFill>
            </a:endParaRPr>
          </a:p>
        </p:txBody>
      </p:sp>
      <p:sp>
        <p:nvSpPr>
          <p:cNvPr id="25" name="圆角矩形 24"/>
          <p:cNvSpPr>
            <a:spLocks noGrp="1"/>
          </p:cNvSpPr>
          <p:nvPr/>
        </p:nvSpPr>
        <p:spPr>
          <a:xfrm>
            <a:off x="723900" y="5257800"/>
            <a:ext cx="10782300" cy="476250"/>
          </a:xfrm>
          <a:prstGeom prst="roundRect">
            <a:avLst>
              <a:gd name="adj" fmla="val 24000"/>
            </a:avLst>
          </a:prstGeom>
          <a:solidFill>
            <a:srgbClr val="FFF4DE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90600" y="5314950"/>
            <a:ext cx="10248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0B1220"/>
                </a:solidFill>
              </a:defRPr>
            </a:pPr>
            <a:r>
              <a:rPr sz="1425" b="1">
                <a:solidFill>
                  <a:srgbClr val="0B1220"/>
                </a:solidFill>
              </a:rPr>
              <a:t>统一帧格式：1 字节类型 + 4 字节载荷长度 + 载荷</a:t>
            </a:r>
            <a:endParaRPr sz="1425" b="1">
              <a:solidFill>
                <a:srgbClr val="0B1220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85800" y="649605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A95A8"/>
                </a:solidFill>
              </a:defRPr>
            </a:pPr>
            <a:endParaRPr sz="825" b="0">
              <a:solidFill>
                <a:srgbClr val="8A95A8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12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2A21B"/>
                </a:solidFill>
              </a:defRPr>
            </a:pPr>
            <a:r>
              <a:rPr sz="1050" b="1">
                <a:solidFill>
                  <a:srgbClr val="F2A21B"/>
                </a:solidFill>
              </a:rPr>
              <a:t>周城伟 · 关键代码</a:t>
            </a:r>
            <a:endParaRPr sz="1050" b="1">
              <a:solidFill>
                <a:srgbClr val="F2A21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固定帧头与接收缓冲解决 TCP 半包和粘包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endParaRPr sz="1275" b="0">
              <a:solidFill>
                <a:srgbClr val="65728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23900" y="2133600"/>
            <a:ext cx="5067300" cy="2266950"/>
          </a:xfrm>
          <a:prstGeom prst="roundRect">
            <a:avLst>
              <a:gd name="adj" fmla="val 6723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2305050"/>
            <a:ext cx="457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2A21B"/>
                </a:solidFill>
              </a:defRPr>
            </a:pPr>
            <a:r>
              <a:rPr sz="1050" b="1">
                <a:solidFill>
                  <a:srgbClr val="F2A21B"/>
                </a:solidFill>
              </a:rPr>
              <a:t>IPMSG/common.h · 128–137</a:t>
            </a:r>
            <a:endParaRPr sz="1050" b="1">
              <a:solidFill>
                <a:srgbClr val="F2A21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71550" y="2647950"/>
            <a:ext cx="457200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pkt.push_back(type);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uint32_t len = htonl(payload.size());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pkt.insert(pkt.end(), lenBytes, lenBytes + 4);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pkt.insert(pkt.end(), payload.begin(), payload.end());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134100" y="2133600"/>
            <a:ext cx="5372100" cy="3009900"/>
          </a:xfrm>
          <a:prstGeom prst="roundRect">
            <a:avLst>
              <a:gd name="adj" fmla="val 5063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381750" y="2305050"/>
            <a:ext cx="48768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2A21B"/>
                </a:solidFill>
              </a:defRPr>
            </a:pPr>
            <a:r>
              <a:rPr sz="1050" b="1">
                <a:solidFill>
                  <a:srgbClr val="F2A21B"/>
                </a:solidFill>
              </a:rPr>
              <a:t>IPMSG/groupchat.cpp · 789–804</a:t>
            </a:r>
            <a:endParaRPr sz="1050" b="1">
              <a:solidFill>
                <a:srgbClr val="F2A21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381750" y="2647950"/>
            <a:ext cx="4876800" cy="2324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uint32_t payloadLength = ntohl(netLength);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size_t frameLength = 5U + payloadLength;</a:t>
            </a:r>
            <a:endParaRPr sz="1200" b="0">
              <a:solidFill>
                <a:srgbClr val="FFFFFF"/>
              </a:solidFill>
            </a:endParaRPr>
          </a:p>
          <a:p>
            <a:endParaRPr sz="1200"/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if (buffer.size() &lt; frameLength)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return true;        // 继续等待</a:t>
            </a:r>
            <a:endParaRPr sz="1200" b="0">
              <a:solidFill>
                <a:srgbClr val="FFFFFF"/>
              </a:solidFill>
            </a:endParaRPr>
          </a:p>
          <a:p>
            <a:endParaRPr sz="1200"/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payload.assign(buffer.begin() + 5,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           buffer.begin() + frameLength);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buffer.erase(buffer.begin(),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         buffer.begin() + frameLength);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23900" y="46863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A21B"/>
                </a:solidFill>
              </a:defRPr>
            </a:pPr>
            <a:r>
              <a:rPr sz="1500" b="1">
                <a:solidFill>
                  <a:srgbClr val="F2A21B"/>
                </a:solidFill>
              </a:rPr>
              <a:t>发送端</a:t>
            </a:r>
            <a:endParaRPr sz="1500" b="1">
              <a:solidFill>
                <a:srgbClr val="F2A21B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695450" y="4648200"/>
            <a:ext cx="3676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先写“类型 + 长度”，再写载荷。</a:t>
            </a:r>
            <a:endParaRPr sz="1350" b="0">
              <a:solidFill>
                <a:srgbClr val="0B122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5181600"/>
            <a:ext cx="95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A21B"/>
                </a:solidFill>
              </a:defRPr>
            </a:pPr>
            <a:r>
              <a:rPr sz="1500" b="1">
                <a:solidFill>
                  <a:srgbClr val="F2A21B"/>
                </a:solidFill>
              </a:rPr>
              <a:t>接收端</a:t>
            </a:r>
            <a:endParaRPr sz="1500" b="1">
              <a:solidFill>
                <a:srgbClr val="F2A21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695450" y="5105400"/>
            <a:ext cx="94869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0B1220"/>
                </a:solidFill>
              </a:defRPr>
            </a:pPr>
            <a:r>
              <a:rPr sz="1350" b="0">
                <a:solidFill>
                  <a:srgbClr val="0B1220"/>
                </a:solidFill>
              </a:rPr>
              <a:t>缓冲不足就继续等；完整后只消费一帧，剩余数据留给下一轮。</a:t>
            </a:r>
            <a:endParaRPr sz="1350" b="0">
              <a:solidFill>
                <a:srgbClr val="0B122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85800" y="649605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A95A8"/>
                </a:solidFill>
              </a:defRPr>
            </a:pPr>
            <a:endParaRPr sz="825" b="0">
              <a:solidFill>
                <a:srgbClr val="8A95A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13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2A21B"/>
                </a:solidFill>
              </a:defRPr>
            </a:pPr>
            <a:r>
              <a:rPr sz="1050" b="1">
                <a:solidFill>
                  <a:srgbClr val="F2A21B"/>
                </a:solidFill>
              </a:rPr>
              <a:t>周城伟 · 文件传输</a:t>
            </a:r>
            <a:endParaRPr sz="1050" b="1">
              <a:solidFill>
                <a:srgbClr val="F2A21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文件传输设计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文件走独立 TCP 端口，避免大文件占用普通消息通道。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23900" y="2266950"/>
            <a:ext cx="1809750" cy="2381250"/>
          </a:xfrm>
          <a:prstGeom prst="roundRect">
            <a:avLst>
              <a:gd name="adj" fmla="val 8421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24384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2A21B"/>
                </a:solidFill>
              </a:defRPr>
            </a:pPr>
            <a:r>
              <a:rPr sz="1350" b="1">
                <a:solidFill>
                  <a:srgbClr val="F2A21B"/>
                </a:solidFill>
              </a:rPr>
              <a:t>01</a:t>
            </a:r>
            <a:endParaRPr sz="1350" b="1">
              <a:solidFill>
                <a:srgbClr val="F2A21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28575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发送请求</a:t>
            </a:r>
            <a:endParaRPr sz="1575" b="1">
              <a:solidFill>
                <a:srgbClr val="0B1220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3333750"/>
            <a:ext cx="1428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发送文件名、大小与发送方信息；接收端先决定是否接受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33650" y="3181350"/>
            <a:ext cx="323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2A21B"/>
                </a:solidFill>
              </a:defRPr>
            </a:pPr>
            <a:r>
              <a:rPr sz="1875" b="1">
                <a:solidFill>
                  <a:srgbClr val="F2A21B"/>
                </a:solidFill>
              </a:rPr>
              <a:t>→</a:t>
            </a:r>
            <a:endParaRPr sz="1875" b="1">
              <a:solidFill>
                <a:srgbClr val="F2A21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857500" y="2266950"/>
            <a:ext cx="1809750" cy="2381250"/>
          </a:xfrm>
          <a:prstGeom prst="roundRect">
            <a:avLst>
              <a:gd name="adj" fmla="val 8421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3048000" y="24384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2A21B"/>
                </a:solidFill>
              </a:defRPr>
            </a:pPr>
            <a:r>
              <a:rPr sz="1350" b="1">
                <a:solidFill>
                  <a:srgbClr val="F2A21B"/>
                </a:solidFill>
              </a:rPr>
              <a:t>02</a:t>
            </a:r>
            <a:endParaRPr sz="1350" b="1">
              <a:solidFill>
                <a:srgbClr val="F2A21B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048000" y="28575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建立通道</a:t>
            </a:r>
            <a:endParaRPr sz="1575" b="1">
              <a:solidFill>
                <a:srgbClr val="0B1220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048000" y="3333750"/>
            <a:ext cx="1428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同意后连接 45456，消息通道仍可继续收发聊天内容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67250" y="3181350"/>
            <a:ext cx="323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2A21B"/>
                </a:solidFill>
              </a:defRPr>
            </a:pPr>
            <a:r>
              <a:rPr sz="1875" b="1">
                <a:solidFill>
                  <a:srgbClr val="F2A21B"/>
                </a:solidFill>
              </a:rPr>
              <a:t>→</a:t>
            </a:r>
            <a:endParaRPr sz="1875" b="1">
              <a:solidFill>
                <a:srgbClr val="F2A21B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4991100" y="2266950"/>
            <a:ext cx="1809750" cy="2381250"/>
          </a:xfrm>
          <a:prstGeom prst="roundRect">
            <a:avLst>
              <a:gd name="adj" fmla="val 8421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181600" y="24384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2A21B"/>
                </a:solidFill>
              </a:defRPr>
            </a:pPr>
            <a:r>
              <a:rPr sz="1350" b="1">
                <a:solidFill>
                  <a:srgbClr val="F2A21B"/>
                </a:solidFill>
              </a:rPr>
              <a:t>03</a:t>
            </a:r>
            <a:endParaRPr sz="1350" b="1">
              <a:solidFill>
                <a:srgbClr val="F2A21B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5181600" y="28575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分块写入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181600" y="3333750"/>
            <a:ext cx="1428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6"/>
                </a:solidFill>
              </a:defRPr>
            </a:pPr>
            <a:r>
              <a:rPr sz="1200" b="0">
                <a:solidFill>
                  <a:srgbClr val="CBD5E6"/>
                </a:solidFill>
              </a:rPr>
              <a:t>循环读取并发送固定大小数据块，同时上报已完成字节数</a:t>
            </a:r>
            <a:endParaRPr sz="1200" b="0">
              <a:solidFill>
                <a:srgbClr val="CBD5E6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800850" y="3181350"/>
            <a:ext cx="323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2A21B"/>
                </a:solidFill>
              </a:defRPr>
            </a:pPr>
            <a:r>
              <a:rPr sz="1875" b="1">
                <a:solidFill>
                  <a:srgbClr val="F2A21B"/>
                </a:solidFill>
              </a:rPr>
              <a:t>→</a:t>
            </a:r>
            <a:endParaRPr sz="1875" b="1">
              <a:solidFill>
                <a:srgbClr val="F2A21B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124700" y="2266950"/>
            <a:ext cx="1809750" cy="2381250"/>
          </a:xfrm>
          <a:prstGeom prst="roundRect">
            <a:avLst>
              <a:gd name="adj" fmla="val 8421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315200" y="24384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2A21B"/>
                </a:solidFill>
              </a:defRPr>
            </a:pPr>
            <a:r>
              <a:rPr sz="1350" b="1">
                <a:solidFill>
                  <a:srgbClr val="F2A21B"/>
                </a:solidFill>
              </a:rPr>
              <a:t>04</a:t>
            </a:r>
            <a:endParaRPr sz="1350" b="1">
              <a:solidFill>
                <a:srgbClr val="F2A21B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7315200" y="28575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安全</a:t>
            </a:r>
            <a:r>
              <a:rPr lang="zh-CN" sz="1575" b="1">
                <a:solidFill>
                  <a:srgbClr val="0B1220"/>
                </a:solidFill>
                <a:ea typeface="宋体" charset="0"/>
              </a:rPr>
              <a:t>接收</a:t>
            </a:r>
            <a:endParaRPr lang="zh-CN" sz="1575" b="1">
              <a:solidFill>
                <a:srgbClr val="0B1220"/>
              </a:solidFill>
              <a:ea typeface="宋体" charset="0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315200" y="3333750"/>
            <a:ext cx="1428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接收时先写 .part 临时文件，完整成功后再替换目标文件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934450" y="3181350"/>
            <a:ext cx="3238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75" b="1">
                <a:solidFill>
                  <a:srgbClr val="F2A21B"/>
                </a:solidFill>
              </a:defRPr>
            </a:pPr>
            <a:r>
              <a:rPr sz="1875" b="1">
                <a:solidFill>
                  <a:srgbClr val="F2A21B"/>
                </a:solidFill>
              </a:rPr>
              <a:t>→</a:t>
            </a:r>
            <a:endParaRPr sz="1875" b="1">
              <a:solidFill>
                <a:srgbClr val="F2A21B"/>
              </a:solidFill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9258300" y="2266950"/>
            <a:ext cx="1809750" cy="2381250"/>
          </a:xfrm>
          <a:prstGeom prst="roundRect">
            <a:avLst>
              <a:gd name="adj" fmla="val 8421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9448800" y="243840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2A21B"/>
                </a:solidFill>
              </a:defRPr>
            </a:pPr>
            <a:r>
              <a:rPr sz="1350" b="1">
                <a:solidFill>
                  <a:srgbClr val="F2A21B"/>
                </a:solidFill>
              </a:rPr>
              <a:t>05</a:t>
            </a:r>
            <a:endParaRPr sz="1350" b="1">
              <a:solidFill>
                <a:srgbClr val="F2A21B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9448800" y="2857500"/>
            <a:ext cx="1428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0B1220"/>
                </a:solidFill>
              </a:defRPr>
            </a:pPr>
            <a:r>
              <a:rPr sz="1575" b="1">
                <a:solidFill>
                  <a:srgbClr val="0B1220"/>
                </a:solidFill>
              </a:rPr>
              <a:t>结束清理</a:t>
            </a:r>
            <a:endParaRPr sz="1575" b="1">
              <a:solidFill>
                <a:srgbClr val="0B1220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448800" y="3333750"/>
            <a:ext cx="14287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无论成功或失败都关闭 fd、移除任务状态并通知界面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23900" y="5067300"/>
            <a:ext cx="10344150" cy="590550"/>
          </a:xfrm>
          <a:prstGeom prst="roundRect">
            <a:avLst>
              <a:gd name="adj" fmla="val 19355"/>
            </a:avLst>
          </a:prstGeom>
          <a:solidFill>
            <a:srgbClr val="FFF4DE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52500" y="5143500"/>
            <a:ext cx="9886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请求/确认保护接收方，独立通道保护聊天体验，.part 文件保护磁盘上的最终结果。</a:t>
            </a:r>
            <a:endParaRPr sz="1350" b="1">
              <a:solidFill>
                <a:srgbClr val="0B1220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85800" y="649605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A95A8"/>
                </a:solidFill>
              </a:defRPr>
            </a:pPr>
            <a:endParaRPr sz="825" b="0">
              <a:solidFill>
                <a:srgbClr val="8A95A8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14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F2A21B"/>
                </a:solidFill>
              </a:defRPr>
            </a:pPr>
            <a:r>
              <a:rPr sz="1050" b="1">
                <a:solidFill>
                  <a:srgbClr val="F2A21B"/>
                </a:solidFill>
              </a:rPr>
              <a:t>周城伟 · 重难点与设计</a:t>
            </a:r>
            <a:endParaRPr sz="1050" b="1">
              <a:solidFill>
                <a:srgbClr val="F2A21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网络状态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23900" y="2152650"/>
            <a:ext cx="45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2A21B"/>
                </a:solidFill>
              </a:defRPr>
            </a:pPr>
            <a:r>
              <a:rPr sz="1575" b="1">
                <a:solidFill>
                  <a:srgbClr val="F2A21B"/>
                </a:solidFill>
              </a:rPr>
              <a:t>01</a:t>
            </a:r>
            <a:endParaRPr sz="1575" b="1">
              <a:solidFill>
                <a:srgbClr val="F2A21B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52550" y="21526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TCP 半包 / 粘包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4095750" y="2152650"/>
            <a:ext cx="716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固定帧头 + 每个 fd 独立缓冲，完整后再反序列化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52550" y="2771775"/>
            <a:ext cx="99060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23900" y="2933700"/>
            <a:ext cx="45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2A21B"/>
                </a:solidFill>
              </a:defRPr>
            </a:pPr>
            <a:r>
              <a:rPr sz="1575" b="1">
                <a:solidFill>
                  <a:srgbClr val="F2A21B"/>
                </a:solidFill>
              </a:rPr>
              <a:t>02</a:t>
            </a:r>
            <a:endParaRPr sz="1575" b="1">
              <a:solidFill>
                <a:srgbClr val="F2A21B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293370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群聊连接复杂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095750" y="2933700"/>
            <a:ext cx="716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稳定 ID 定方向 + HELLO/ACK + 重试 + m_connectings 去重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52550" y="3552825"/>
            <a:ext cx="99060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723900" y="3714750"/>
            <a:ext cx="45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2A21B"/>
                </a:solidFill>
              </a:defRPr>
            </a:pPr>
            <a:r>
              <a:rPr sz="1575" b="1">
                <a:solidFill>
                  <a:srgbClr val="F2A21B"/>
                </a:solidFill>
              </a:rPr>
              <a:t>03</a:t>
            </a:r>
            <a:endParaRPr sz="1575" b="1">
              <a:solidFill>
                <a:srgbClr val="F2A21B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352550" y="371475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多线程影响界面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095750" y="3714750"/>
            <a:ext cx="716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网络任务在线程中运行，Qt 信号槽安全回到主线程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52550" y="4333875"/>
            <a:ext cx="99060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23900" y="4495800"/>
            <a:ext cx="4572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2A21B"/>
                </a:solidFill>
              </a:defRPr>
            </a:pPr>
            <a:r>
              <a:rPr sz="1575" b="1">
                <a:solidFill>
                  <a:srgbClr val="F2A21B"/>
                </a:solidFill>
              </a:rPr>
              <a:t>04</a:t>
            </a:r>
            <a:endParaRPr sz="1575" b="1">
              <a:solidFill>
                <a:srgbClr val="F2A21B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352550" y="4495800"/>
            <a:ext cx="2476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失败与重复清理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095750" y="4495800"/>
            <a:ext cx="71628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m_closingFds 防重复关闭；文件先写 .part 再替换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21" name="圆角矩形 20"/>
          <p:cNvSpPr>
            <a:spLocks noGrp="1"/>
          </p:cNvSpPr>
          <p:nvPr/>
        </p:nvSpPr>
        <p:spPr>
          <a:xfrm>
            <a:off x="723900" y="5429250"/>
            <a:ext cx="10782300" cy="495300"/>
          </a:xfrm>
          <a:prstGeom prst="roundRect">
            <a:avLst>
              <a:gd name="adj" fmla="val 23077"/>
            </a:avLst>
          </a:prstGeom>
          <a:solidFill>
            <a:srgbClr val="FFF4DE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952500" y="5495925"/>
            <a:ext cx="10325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通道隔离 · 明确协议 · 可恢复连接 · 幂等清理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85800" y="6496050"/>
            <a:ext cx="571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825" b="0">
                <a:solidFill>
                  <a:srgbClr val="8A95A8"/>
                </a:solidFill>
              </a:defRPr>
            </a:pPr>
            <a:endParaRPr sz="825" b="0">
              <a:solidFill>
                <a:srgbClr val="8A95A8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15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0" y="0"/>
            <a:ext cx="2781300" cy="6858000"/>
          </a:xfrm>
          <a:prstGeom prst="rect">
            <a:avLst/>
          </a:prstGeom>
          <a:solidFill>
            <a:srgbClr val="7657E8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66750" y="1104900"/>
            <a:ext cx="1714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rPr sz="7200" b="1">
                <a:solidFill>
                  <a:srgbClr val="FFFFFF"/>
                </a:solidFill>
              </a:rPr>
              <a:t>03</a:t>
            </a:r>
            <a:endParaRPr sz="720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2781300"/>
            <a:ext cx="1104900" cy="38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30099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开发者板块</a:t>
            </a:r>
            <a:endParaRPr sz="1200" b="1">
              <a:solidFill>
                <a:srgbClr val="FFFFFF"/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3619500" y="1695450"/>
            <a:ext cx="685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江钒</a:t>
            </a:r>
            <a:endParaRPr sz="4350" b="1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638550" y="2628900"/>
            <a:ext cx="7048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75" b="1">
                <a:solidFill>
                  <a:srgbClr val="D1C5FF"/>
                </a:solidFill>
              </a:defRPr>
            </a:pPr>
            <a:r>
              <a:rPr sz="1875" b="1">
                <a:solidFill>
                  <a:srgbClr val="D1C5FF"/>
                </a:solidFill>
              </a:rPr>
              <a:t>前端界面与交互体验</a:t>
            </a:r>
            <a:endParaRPr sz="1875" b="1">
              <a:solidFill>
                <a:srgbClr val="D1C5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638550" y="3371850"/>
            <a:ext cx="6858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CBD5E6"/>
                </a:solidFill>
              </a:defRPr>
            </a:pPr>
            <a:r>
              <a:rPr sz="1425" b="0" dirty="0" err="1">
                <a:solidFill>
                  <a:srgbClr val="CBD5E6"/>
                </a:solidFill>
              </a:rPr>
              <a:t>我的重点：把底层能力组织成清楚、稳定、可缩放的桌面聊天体验</a:t>
            </a:r>
            <a:r>
              <a:rPr sz="1425" b="0" dirty="0">
                <a:solidFill>
                  <a:srgbClr val="CBD5E6"/>
                </a:solidFill>
              </a:rPr>
              <a:t>。</a:t>
            </a:r>
            <a:endParaRPr sz="1425" b="0" dirty="0">
              <a:solidFill>
                <a:srgbClr val="CBD5E6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95375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190B2"/>
                </a:solidFill>
              </a:defRPr>
            </a:pPr>
            <a:r>
              <a:rPr sz="900" b="0">
                <a:solidFill>
                  <a:srgbClr val="8190B2"/>
                </a:solidFill>
              </a:rPr>
              <a:t>16</a:t>
            </a:r>
            <a:endParaRPr sz="900" b="0">
              <a:solidFill>
                <a:srgbClr val="8190B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857375"/>
            <a:ext cx="5970905" cy="4210685"/>
          </a:xfrm>
          <a:prstGeom prst="rect">
            <a:avLst/>
          </a:prstGeom>
        </p:spPr>
      </p:pic>
      <p:sp>
        <p:nvSpPr>
          <p:cNvPr id="5" name="矩形 4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7657E8"/>
                </a:solidFill>
              </a:defRPr>
            </a:pPr>
            <a:r>
              <a:rPr sz="1050" b="1">
                <a:solidFill>
                  <a:srgbClr val="7657E8"/>
                </a:solidFill>
              </a:rPr>
              <a:t>江钒 · 我的工作</a:t>
            </a:r>
            <a:endParaRPr sz="1050" b="1">
              <a:solidFill>
                <a:srgbClr val="7657E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我把底层能力组织成可理解的聊天体验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我让主窗口围绕会话选择、消息阅读和输入发送三件事展开。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067800" y="21907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7657E8"/>
                </a:solidFill>
              </a:defRPr>
            </a:pPr>
            <a:r>
              <a:rPr sz="1650" b="1" dirty="0" err="1">
                <a:solidFill>
                  <a:srgbClr val="7657E8"/>
                </a:solidFill>
              </a:rPr>
              <a:t>界面结构复原</a:t>
            </a:r>
            <a:endParaRPr sz="1650" b="1" dirty="0">
              <a:solidFill>
                <a:srgbClr val="7657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067800" y="2571750"/>
            <a:ext cx="2343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 dirty="0" err="1">
                <a:solidFill>
                  <a:srgbClr val="65728A"/>
                </a:solidFill>
              </a:rPr>
              <a:t>依据</a:t>
            </a:r>
            <a:r>
              <a:rPr sz="1200" b="0" dirty="0">
                <a:solidFill>
                  <a:srgbClr val="65728A"/>
                </a:solidFill>
              </a:rPr>
              <a:t> 4 </a:t>
            </a:r>
            <a:r>
              <a:rPr sz="1200" b="0" dirty="0" err="1">
                <a:solidFill>
                  <a:srgbClr val="65728A"/>
                </a:solidFill>
              </a:rPr>
              <a:t>个核心</a:t>
            </a:r>
            <a:r>
              <a:rPr sz="1200" b="0" dirty="0">
                <a:solidFill>
                  <a:srgbClr val="65728A"/>
                </a:solidFill>
              </a:rPr>
              <a:t> QML </a:t>
            </a:r>
            <a:r>
              <a:rPr sz="1200" b="0" dirty="0" err="1">
                <a:solidFill>
                  <a:srgbClr val="65728A"/>
                </a:solidFill>
              </a:rPr>
              <a:t>文件复原；并非实际运行截图</a:t>
            </a:r>
            <a:r>
              <a:rPr sz="1200" b="0" dirty="0">
                <a:solidFill>
                  <a:srgbClr val="65728A"/>
                </a:solidFill>
              </a:rPr>
              <a:t>。</a:t>
            </a:r>
            <a:endParaRPr sz="1200" b="0" dirty="0">
              <a:solidFill>
                <a:srgbClr val="65728A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067800" y="337185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7657E8"/>
                </a:solidFill>
              </a:defRPr>
            </a:pPr>
            <a:r>
              <a:rPr sz="1275" b="1" dirty="0">
                <a:solidFill>
                  <a:srgbClr val="7657E8"/>
                </a:solidFill>
              </a:rPr>
              <a:t>① </a:t>
            </a:r>
            <a:r>
              <a:rPr sz="1275" b="1" dirty="0" err="1">
                <a:solidFill>
                  <a:srgbClr val="7657E8"/>
                </a:solidFill>
              </a:rPr>
              <a:t>左侧</a:t>
            </a:r>
            <a:endParaRPr sz="1275" b="1" dirty="0">
              <a:solidFill>
                <a:srgbClr val="7657E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982200" y="33718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搜索与会话列表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9067800" y="384810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7657E8"/>
                </a:solidFill>
              </a:defRPr>
            </a:pPr>
            <a:r>
              <a:rPr sz="1275" b="1">
                <a:solidFill>
                  <a:srgbClr val="7657E8"/>
                </a:solidFill>
              </a:rPr>
              <a:t>② 中间</a:t>
            </a:r>
            <a:endParaRPr sz="1275" b="1">
              <a:solidFill>
                <a:srgbClr val="7657E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9982200" y="38481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消息区与输入区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067800" y="432435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7657E8"/>
                </a:solidFill>
              </a:defRPr>
            </a:pPr>
            <a:r>
              <a:rPr sz="1275" b="1">
                <a:solidFill>
                  <a:srgbClr val="7657E8"/>
                </a:solidFill>
              </a:rPr>
              <a:t>③ 右侧</a:t>
            </a:r>
            <a:endParaRPr sz="1275" b="1">
              <a:solidFill>
                <a:srgbClr val="7657E8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982200" y="432435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群成员信息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8972550" y="4914900"/>
            <a:ext cx="2533650" cy="952500"/>
          </a:xfrm>
          <a:prstGeom prst="roundRect">
            <a:avLst>
              <a:gd name="adj" fmla="val 12000"/>
            </a:avLst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163050" y="50292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7657E8"/>
                </a:solidFill>
              </a:defRPr>
            </a:pPr>
            <a:r>
              <a:rPr sz="1275" b="1">
                <a:solidFill>
                  <a:srgbClr val="7657E8"/>
                </a:solidFill>
              </a:rPr>
              <a:t>我的职责边界</a:t>
            </a:r>
            <a:endParaRPr sz="1275" b="1">
              <a:solidFill>
                <a:srgbClr val="7657E8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163050" y="5295900"/>
            <a:ext cx="2152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我让界面只表达状态；业务统一交给 AppController。</a:t>
            </a:r>
            <a:endParaRPr sz="1200" b="1">
              <a:solidFill>
                <a:srgbClr val="0B122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17</a:t>
            </a:r>
            <a:endParaRPr sz="900" b="0">
              <a:solidFill>
                <a:srgbClr val="8A95A8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016071" y="5547598"/>
            <a:ext cx="324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inputPanel</a:t>
            </a:r>
            <a:endParaRPr lang="zh-CN" altLang="en-US" dirty="0"/>
          </a:p>
        </p:txBody>
      </p:sp>
      <p:sp>
        <p:nvSpPr>
          <p:cNvPr id="20" name="文本框 19"/>
          <p:cNvSpPr txBox="1"/>
          <p:nvPr/>
        </p:nvSpPr>
        <p:spPr>
          <a:xfrm>
            <a:off x="377478" y="2674562"/>
            <a:ext cx="324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peerPanel</a:t>
            </a:r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2787015" y="2395555"/>
            <a:ext cx="3245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Window</a:t>
            </a:r>
            <a:endParaRPr lang="zh-CN" altLang="en-US" sz="2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393712" y="1567387"/>
            <a:ext cx="324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inviteUserInterface</a:t>
            </a:r>
            <a:endParaRPr lang="zh-CN" altLang="en-US" dirty="0"/>
          </a:p>
        </p:txBody>
      </p:sp>
      <p:sp>
        <p:nvSpPr>
          <p:cNvPr id="27" name="文本框 26"/>
          <p:cNvSpPr txBox="1"/>
          <p:nvPr/>
        </p:nvSpPr>
        <p:spPr>
          <a:xfrm>
            <a:off x="3177809" y="3657538"/>
            <a:ext cx="149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login</a:t>
            </a:r>
            <a:endParaRPr lang="zh-CN" altLang="en-US" dirty="0"/>
          </a:p>
        </p:txBody>
      </p:sp>
      <p:sp>
        <p:nvSpPr>
          <p:cNvPr id="28" name="文本框 27"/>
          <p:cNvSpPr txBox="1"/>
          <p:nvPr/>
        </p:nvSpPr>
        <p:spPr>
          <a:xfrm>
            <a:off x="3622794" y="3163389"/>
            <a:ext cx="1498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chatPanel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377706" y="4324040"/>
            <a:ext cx="3245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groupMemberListView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7657E8"/>
                </a:solidFill>
              </a:defRPr>
            </a:pPr>
            <a:r>
              <a:rPr sz="1050" b="1">
                <a:solidFill>
                  <a:srgbClr val="7657E8"/>
                </a:solidFill>
              </a:rPr>
              <a:t>江钒 · 关键代码</a:t>
            </a:r>
            <a:endParaRPr sz="1050" b="1">
              <a:solidFill>
                <a:srgbClr val="7657E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 dirty="0" err="1">
                <a:solidFill>
                  <a:srgbClr val="0B1220"/>
                </a:solidFill>
              </a:rPr>
              <a:t>我用显式状态与明确快捷键让交互结果可预期</a:t>
            </a:r>
            <a:endParaRPr sz="2850" b="1" dirty="0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我用清楚的状态字段分别控制私聊、群聊与输入行为。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: 圆角 4"/>
          <p:cNvSpPr>
            <a:spLocks noGrp="1"/>
          </p:cNvSpPr>
          <p:nvPr/>
        </p:nvSpPr>
        <p:spPr>
          <a:xfrm>
            <a:off x="723900" y="2133600"/>
            <a:ext cx="5257800" cy="3086100"/>
          </a:xfrm>
          <a:prstGeom prst="roundRect">
            <a:avLst>
              <a:gd name="adj" fmla="val 4938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71550" y="2305050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7657E8"/>
                </a:solidFill>
              </a:defRPr>
            </a:pPr>
            <a:r>
              <a:rPr sz="1050" b="1">
                <a:solidFill>
                  <a:srgbClr val="7657E8"/>
                </a:solidFill>
              </a:rPr>
              <a:t>qml/Window.qml · 108–124</a:t>
            </a:r>
            <a:endParaRPr sz="1050" b="1">
              <a:solidFill>
                <a:srgbClr val="7657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71550" y="2647950"/>
            <a:ext cx="47625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property string </a:t>
            </a:r>
            <a:r>
              <a:rPr sz="1200" b="0" dirty="0" err="1">
                <a:solidFill>
                  <a:srgbClr val="FFFFFF"/>
                </a:solidFill>
              </a:rPr>
              <a:t>currentPeerId</a:t>
            </a:r>
            <a:r>
              <a:rPr sz="1200" b="0" dirty="0">
                <a:solidFill>
                  <a:srgbClr val="FFFFFF"/>
                </a:solidFill>
              </a:rPr>
              <a:t>: ""</a:t>
            </a:r>
            <a:endParaRPr sz="1200" b="0" dirty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property string </a:t>
            </a:r>
            <a:r>
              <a:rPr sz="1200" b="0" dirty="0" err="1">
                <a:solidFill>
                  <a:srgbClr val="FFFFFF"/>
                </a:solidFill>
              </a:rPr>
              <a:t>currentGroupId</a:t>
            </a:r>
            <a:r>
              <a:rPr sz="1200" b="0" dirty="0">
                <a:solidFill>
                  <a:srgbClr val="FFFFFF"/>
                </a:solidFill>
              </a:rPr>
              <a:t>: ""</a:t>
            </a:r>
            <a:endParaRPr sz="1200" b="0" dirty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property bool </a:t>
            </a:r>
            <a:r>
              <a:rPr sz="1200" b="0" dirty="0" err="1">
                <a:solidFill>
                  <a:srgbClr val="FFFFFF"/>
                </a:solidFill>
              </a:rPr>
              <a:t>currentIsGroup</a:t>
            </a:r>
            <a:r>
              <a:rPr sz="1200" b="0" dirty="0">
                <a:solidFill>
                  <a:srgbClr val="FFFFFF"/>
                </a:solidFill>
              </a:rPr>
              <a:t>: false</a:t>
            </a:r>
            <a:endParaRPr sz="1200" b="0" dirty="0">
              <a:solidFill>
                <a:srgbClr val="FFFFFF"/>
              </a:solidFill>
            </a:endParaRPr>
          </a:p>
          <a:p>
            <a:endParaRPr sz="1200" b="0" dirty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 err="1">
                <a:solidFill>
                  <a:srgbClr val="FFFFFF"/>
                </a:solidFill>
              </a:rPr>
              <a:t>readonly</a:t>
            </a:r>
            <a:r>
              <a:rPr sz="1200" b="0" dirty="0">
                <a:solidFill>
                  <a:srgbClr val="FFFFFF"/>
                </a:solidFill>
              </a:rPr>
              <a:t> property string </a:t>
            </a:r>
            <a:r>
              <a:rPr sz="1200" b="0" dirty="0" err="1">
                <a:solidFill>
                  <a:srgbClr val="FFFFFF"/>
                </a:solidFill>
              </a:rPr>
              <a:t>currentConversationId</a:t>
            </a:r>
            <a:r>
              <a:rPr sz="1200" b="0" dirty="0">
                <a:solidFill>
                  <a:srgbClr val="FFFFFF"/>
                </a:solidFill>
              </a:rPr>
              <a:t>:</a:t>
            </a:r>
            <a:endParaRPr sz="1200" b="0" dirty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    </a:t>
            </a:r>
            <a:r>
              <a:rPr sz="1200" b="0" dirty="0" err="1">
                <a:solidFill>
                  <a:srgbClr val="FFFFFF"/>
                </a:solidFill>
              </a:rPr>
              <a:t>currentIsGroup</a:t>
            </a:r>
            <a:r>
              <a:rPr sz="1200" b="0" dirty="0">
                <a:solidFill>
                  <a:srgbClr val="FFFFFF"/>
                </a:solidFill>
              </a:rPr>
              <a:t> ? </a:t>
            </a:r>
            <a:r>
              <a:rPr sz="1200" b="0" dirty="0" err="1">
                <a:solidFill>
                  <a:srgbClr val="FFFFFF"/>
                </a:solidFill>
              </a:rPr>
              <a:t>currentGroupId</a:t>
            </a:r>
            <a:endParaRPr sz="1200" b="0" dirty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 dirty="0">
                <a:solidFill>
                  <a:srgbClr val="FFFFFF"/>
                </a:solidFill>
              </a:rPr>
              <a:t>                   : </a:t>
            </a:r>
            <a:r>
              <a:rPr sz="1200" b="0" dirty="0" err="1">
                <a:solidFill>
                  <a:srgbClr val="FFFFFF"/>
                </a:solidFill>
              </a:rPr>
              <a:t>currentPeerId</a:t>
            </a:r>
            <a:endParaRPr sz="1200" b="0" dirty="0">
              <a:solidFill>
                <a:srgbClr val="FFFFFF"/>
              </a:solidFill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6324600" y="2133600"/>
            <a:ext cx="5181600" cy="3086100"/>
          </a:xfrm>
          <a:prstGeom prst="roundRect">
            <a:avLst>
              <a:gd name="adj" fmla="val 4938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572250" y="2305050"/>
            <a:ext cx="468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7657E8"/>
                </a:solidFill>
              </a:defRPr>
            </a:pPr>
            <a:r>
              <a:rPr sz="1050" b="1">
                <a:solidFill>
                  <a:srgbClr val="7657E8"/>
                </a:solidFill>
              </a:rPr>
              <a:t>qml/InputPanel.qml · 200–216</a:t>
            </a:r>
            <a:endParaRPr sz="1050" b="1">
              <a:solidFill>
                <a:srgbClr val="7657E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572250" y="2647950"/>
            <a:ext cx="46863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Keys.onPressed: function(event) {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if (event.modifiers &amp; Qt.ControlModifier) {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inputArea.insert(cursorPosition, "\n")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  return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}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  root.trySendMessage()   // Enter 发送</a:t>
            </a:r>
            <a:endParaRPr sz="1200" b="0">
              <a:solidFill>
                <a:srgbClr val="FFFFFF"/>
              </a:solidFill>
            </a:endParaRPr>
          </a:p>
          <a:p>
            <a:pPr algn="l"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}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23900" y="5467350"/>
            <a:ext cx="102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7657E8"/>
                </a:solidFill>
              </a:defRPr>
            </a:pPr>
            <a:r>
              <a:rPr sz="1500" b="1">
                <a:solidFill>
                  <a:srgbClr val="7657E8"/>
                </a:solidFill>
              </a:rPr>
              <a:t>状态设计</a:t>
            </a:r>
            <a:endParaRPr sz="1500" b="1">
              <a:solidFill>
                <a:srgbClr val="7657E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828800" y="5429250"/>
            <a:ext cx="4076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 err="1">
                <a:solidFill>
                  <a:srgbClr val="0B1220"/>
                </a:solidFill>
              </a:rPr>
              <a:t>私聊与群聊不复用同一个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ID，切换会话时不会串模型</a:t>
            </a:r>
            <a:endParaRPr sz="1275" b="0" dirty="0">
              <a:solidFill>
                <a:srgbClr val="0B122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24600" y="5467350"/>
            <a:ext cx="1028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7657E8"/>
                </a:solidFill>
              </a:defRPr>
            </a:pPr>
            <a:r>
              <a:rPr sz="1500" b="1">
                <a:solidFill>
                  <a:srgbClr val="7657E8"/>
                </a:solidFill>
              </a:rPr>
              <a:t>交互设计</a:t>
            </a:r>
            <a:endParaRPr sz="1500" b="1">
              <a:solidFill>
                <a:srgbClr val="7657E8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29500" y="5429250"/>
            <a:ext cx="39624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 dirty="0">
                <a:solidFill>
                  <a:srgbClr val="0B1220"/>
                </a:solidFill>
              </a:rPr>
              <a:t>Enter </a:t>
            </a:r>
            <a:r>
              <a:rPr sz="1275" b="0" dirty="0" err="1">
                <a:solidFill>
                  <a:srgbClr val="0B1220"/>
                </a:solidFill>
              </a:rPr>
              <a:t>发送、Ctrl+Enter</a:t>
            </a:r>
            <a:r>
              <a:rPr sz="1275" b="0" dirty="0">
                <a:solidFill>
                  <a:srgbClr val="0B1220"/>
                </a:solidFill>
              </a:rPr>
              <a:t> </a:t>
            </a:r>
            <a:r>
              <a:rPr sz="1275" b="0" dirty="0" err="1">
                <a:solidFill>
                  <a:srgbClr val="0B1220"/>
                </a:solidFill>
              </a:rPr>
              <a:t>换行，符合聊天软件的常见心智模型</a:t>
            </a:r>
            <a:r>
              <a:rPr sz="1275" b="0" dirty="0">
                <a:solidFill>
                  <a:srgbClr val="0B1220"/>
                </a:solidFill>
              </a:rPr>
              <a:t>。</a:t>
            </a:r>
            <a:endParaRPr sz="1275" b="0" dirty="0">
              <a:solidFill>
                <a:srgbClr val="0B122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18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7657E8"/>
                </a:solidFill>
              </a:defRPr>
            </a:pPr>
            <a:r>
              <a:rPr sz="1050" b="1">
                <a:solidFill>
                  <a:srgbClr val="7657E8"/>
                </a:solidFill>
              </a:rPr>
              <a:t>江钒 · 组件协作</a:t>
            </a:r>
            <a:endParaRPr sz="1050" b="1">
              <a:solidFill>
                <a:srgbClr val="7657E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我让组件通过明确输入和信号协作，避免界面状态互相污染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主窗口管理会话上下文，各面板只处理自己的展示与交互职责。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: 圆角 4"/>
          <p:cNvSpPr>
            <a:spLocks noGrp="1"/>
          </p:cNvSpPr>
          <p:nvPr/>
        </p:nvSpPr>
        <p:spPr>
          <a:xfrm>
            <a:off x="723900" y="2114550"/>
            <a:ext cx="5067300" cy="1371600"/>
          </a:xfrm>
          <a:prstGeom prst="roundRect">
            <a:avLst>
              <a:gd name="adj" fmla="val 11111"/>
            </a:avLst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52500" y="22669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7657E8"/>
                </a:solidFill>
              </a:defRPr>
            </a:pPr>
            <a:r>
              <a:rPr sz="1650" b="1">
                <a:solidFill>
                  <a:srgbClr val="7657E8"/>
                </a:solidFill>
              </a:rPr>
              <a:t>PeerPanel</a:t>
            </a:r>
            <a:endParaRPr sz="1650" b="1">
              <a:solidFill>
                <a:srgbClr val="7657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52500" y="26479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输入：联系人 / 群组模型</a:t>
            </a:r>
            <a:endParaRPr sz="1200" b="1">
              <a:solidFill>
                <a:srgbClr val="0B122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9146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输出：选择会话、搜索条件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52500" y="3181350"/>
            <a:ext cx="461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7657E8"/>
                </a:solidFill>
              </a:defRPr>
            </a:pPr>
            <a:r>
              <a:rPr sz="1125" b="0">
                <a:solidFill>
                  <a:srgbClr val="7657E8"/>
                </a:solidFill>
              </a:rPr>
              <a:t>只负责找到“要和谁聊”</a:t>
            </a:r>
            <a:endParaRPr sz="1125" b="0">
              <a:solidFill>
                <a:srgbClr val="7657E8"/>
              </a:solidFill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6191250" y="2114550"/>
            <a:ext cx="5067300" cy="1371600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419850" y="22669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7657E8"/>
                </a:solidFill>
              </a:defRPr>
            </a:pPr>
            <a:r>
              <a:rPr sz="1650" b="1">
                <a:solidFill>
                  <a:srgbClr val="7657E8"/>
                </a:solidFill>
              </a:rPr>
              <a:t>ChatPanel</a:t>
            </a:r>
            <a:endParaRPr sz="1650" b="1">
              <a:solidFill>
                <a:srgbClr val="7657E8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19850" y="26479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输入：当前会话消息模型</a:t>
            </a:r>
            <a:endParaRPr sz="1200" b="1">
              <a:solidFill>
                <a:srgbClr val="0B1220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419850" y="29146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输出：文件操作与滚动反馈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419850" y="3181350"/>
            <a:ext cx="461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7657E8"/>
                </a:solidFill>
              </a:defRPr>
            </a:pPr>
            <a:r>
              <a:rPr sz="1125" b="0">
                <a:solidFill>
                  <a:srgbClr val="7657E8"/>
                </a:solidFill>
              </a:rPr>
              <a:t>只负责呈现“聊了什么”</a:t>
            </a:r>
            <a:endParaRPr sz="1125" b="0">
              <a:solidFill>
                <a:srgbClr val="7657E8"/>
              </a:solidFill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723900" y="3752850"/>
            <a:ext cx="5067300" cy="1371600"/>
          </a:xfrm>
          <a:prstGeom prst="roundRect">
            <a:avLst>
              <a:gd name="adj" fmla="val 11111"/>
            </a:avLst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39052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7657E8"/>
                </a:solidFill>
              </a:defRPr>
            </a:pPr>
            <a:r>
              <a:rPr sz="1650" b="1">
                <a:solidFill>
                  <a:srgbClr val="7657E8"/>
                </a:solidFill>
              </a:rPr>
              <a:t>InputPanel</a:t>
            </a:r>
            <a:endParaRPr sz="1650" b="1">
              <a:solidFill>
                <a:srgbClr val="7657E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52500" y="42862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输入：当前会话 ID 与类型</a:t>
            </a:r>
            <a:endParaRPr sz="1200" b="1">
              <a:solidFill>
                <a:srgbClr val="0B122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52500" y="45529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>
                <a:solidFill>
                  <a:srgbClr val="65728A"/>
                </a:solidFill>
              </a:rPr>
              <a:t>输出：发送文字、选择文件</a:t>
            </a:r>
            <a:endParaRPr sz="1200" b="0">
              <a:solidFill>
                <a:srgbClr val="65728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52500" y="4819650"/>
            <a:ext cx="461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7657E8"/>
                </a:solidFill>
              </a:defRPr>
            </a:pPr>
            <a:r>
              <a:rPr sz="1125" b="0">
                <a:solidFill>
                  <a:srgbClr val="7657E8"/>
                </a:solidFill>
              </a:rPr>
              <a:t>只负责组织“准备发什么”</a:t>
            </a:r>
            <a:endParaRPr sz="1125" b="0">
              <a:solidFill>
                <a:srgbClr val="7657E8"/>
              </a:solidFill>
            </a:endParaRPr>
          </a:p>
        </p:txBody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6191250" y="3752850"/>
            <a:ext cx="5067300" cy="1371600"/>
          </a:xfrm>
          <a:prstGeom prst="roundRect">
            <a:avLst>
              <a:gd name="adj" fmla="val 11111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19850" y="3905250"/>
            <a:ext cx="1524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7657E8"/>
                </a:solidFill>
              </a:defRPr>
            </a:pPr>
            <a:r>
              <a:rPr sz="1650" b="1" dirty="0" err="1">
                <a:solidFill>
                  <a:srgbClr val="7657E8"/>
                </a:solidFill>
              </a:rPr>
              <a:t>MemberPanel</a:t>
            </a:r>
            <a:endParaRPr sz="1650" b="1" dirty="0">
              <a:solidFill>
                <a:srgbClr val="7657E8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419850" y="4286250"/>
            <a:ext cx="4610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B1220"/>
                </a:solidFill>
              </a:defRPr>
            </a:pPr>
            <a:r>
              <a:rPr sz="1200" b="1">
                <a:solidFill>
                  <a:srgbClr val="0B1220"/>
                </a:solidFill>
              </a:rPr>
              <a:t>输入：群成员模型</a:t>
            </a:r>
            <a:endParaRPr sz="1200" b="1">
              <a:solidFill>
                <a:srgbClr val="0B1220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19850" y="4552950"/>
            <a:ext cx="461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 dirty="0" err="1">
                <a:solidFill>
                  <a:srgbClr val="65728A"/>
                </a:solidFill>
              </a:rPr>
              <a:t>输出：成员信息查看</a:t>
            </a:r>
            <a:endParaRPr sz="1200" b="0" dirty="0">
              <a:solidFill>
                <a:srgbClr val="65728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419850" y="4819650"/>
            <a:ext cx="461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7657E8"/>
                </a:solidFill>
              </a:defRPr>
            </a:pPr>
            <a:r>
              <a:rPr sz="1125" b="0" dirty="0" err="1">
                <a:solidFill>
                  <a:srgbClr val="7657E8"/>
                </a:solidFill>
              </a:rPr>
              <a:t>仅在群聊场景显示</a:t>
            </a:r>
            <a:endParaRPr sz="1125" b="0" dirty="0">
              <a:solidFill>
                <a:srgbClr val="7657E8"/>
              </a:solidFill>
            </a:endParaRPr>
          </a:p>
        </p:txBody>
      </p:sp>
      <p:sp>
        <p:nvSpPr>
          <p:cNvPr id="25" name="矩形: 圆角 24"/>
          <p:cNvSpPr>
            <a:spLocks noGrp="1"/>
          </p:cNvSpPr>
          <p:nvPr/>
        </p:nvSpPr>
        <p:spPr>
          <a:xfrm>
            <a:off x="723900" y="5467350"/>
            <a:ext cx="10782300" cy="495300"/>
          </a:xfrm>
          <a:prstGeom prst="roundRect">
            <a:avLst>
              <a:gd name="adj" fmla="val 23077"/>
            </a:avLst>
          </a:prstGeom>
          <a:solidFill>
            <a:srgbClr val="0A1633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952500" y="5524500"/>
            <a:ext cx="10325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Window.qml 维护 currentPeerId / currentGroupId / currentIsGroup，AppController 负责真正的业务调用。</a:t>
            </a:r>
            <a:endParaRPr sz="1350" b="1">
              <a:solidFill>
                <a:srgbClr val="FFFFFF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19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7657E8"/>
                </a:solidFill>
              </a:defRPr>
            </a:pPr>
            <a:r>
              <a:rPr sz="1050" b="1">
                <a:solidFill>
                  <a:srgbClr val="7657E8"/>
                </a:solidFill>
              </a:rPr>
              <a:t>江钒 · 重难点与设计</a:t>
            </a:r>
            <a:endParaRPr sz="1050" b="1">
              <a:solidFill>
                <a:srgbClr val="7657E8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我用响应式布局与清晰状态稳定界面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我把结构与状态边界放在视觉样式之前。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: 圆角 4"/>
          <p:cNvSpPr>
            <a:spLocks noGrp="1"/>
          </p:cNvSpPr>
          <p:nvPr/>
        </p:nvSpPr>
        <p:spPr>
          <a:xfrm>
            <a:off x="723900" y="2133600"/>
            <a:ext cx="5067300" cy="1238250"/>
          </a:xfrm>
          <a:prstGeom prst="roundRect">
            <a:avLst>
              <a:gd name="adj" fmla="val 12308"/>
            </a:avLst>
          </a:prstGeom>
          <a:solidFill>
            <a:srgbClr val="F0EC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52499" y="2343150"/>
            <a:ext cx="64941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657E8"/>
                </a:solidFill>
              </a:defRPr>
            </a:pPr>
            <a:r>
              <a:rPr sz="2000" b="1" dirty="0">
                <a:solidFill>
                  <a:srgbClr val="7657E8"/>
                </a:solidFill>
              </a:rPr>
              <a:t>01</a:t>
            </a:r>
            <a:endParaRPr sz="2000" b="1" dirty="0">
              <a:solidFill>
                <a:srgbClr val="7657E8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504950" y="2305050"/>
            <a:ext cx="3981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sz="1500" b="1">
                <a:solidFill>
                  <a:srgbClr val="0B1220"/>
                </a:solidFill>
              </a:rPr>
              <a:t>窗口缩放后错位</a:t>
            </a:r>
            <a:endParaRPr sz="1500" b="1">
              <a:solidFill>
                <a:srgbClr val="0B1220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52500" y="27622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sz="1200" b="0" dirty="0" err="1">
                <a:solidFill>
                  <a:srgbClr val="65728A"/>
                </a:solidFill>
              </a:rPr>
              <a:t>RowLayout</a:t>
            </a:r>
            <a:r>
              <a:rPr sz="1200" b="0" dirty="0">
                <a:solidFill>
                  <a:srgbClr val="65728A"/>
                </a:solidFill>
              </a:rPr>
              <a:t> / </a:t>
            </a:r>
            <a:r>
              <a:rPr sz="1200" b="0" dirty="0" err="1">
                <a:solidFill>
                  <a:srgbClr val="65728A"/>
                </a:solidFill>
              </a:rPr>
              <a:t>ColumnLayout</a:t>
            </a:r>
            <a:r>
              <a:rPr sz="1200" b="0" dirty="0">
                <a:solidFill>
                  <a:srgbClr val="65728A"/>
                </a:solidFill>
              </a:rPr>
              <a:t> </a:t>
            </a:r>
            <a:r>
              <a:rPr sz="1200" b="0" dirty="0" err="1">
                <a:solidFill>
                  <a:srgbClr val="65728A"/>
                </a:solidFill>
              </a:rPr>
              <a:t>取代大量固定坐标与复杂</a:t>
            </a:r>
            <a:r>
              <a:rPr sz="1200" b="0" dirty="0">
                <a:solidFill>
                  <a:srgbClr val="65728A"/>
                </a:solidFill>
              </a:rPr>
              <a:t> anchors</a:t>
            </a:r>
            <a:endParaRPr sz="1200" b="0" dirty="0">
              <a:solidFill>
                <a:srgbClr val="65728A"/>
              </a:solidFill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6191250" y="2121927"/>
            <a:ext cx="5067300" cy="1238250"/>
          </a:xfrm>
          <a:prstGeom prst="roundRect">
            <a:avLst>
              <a:gd name="adj" fmla="val 12308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419850" y="234315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657E8"/>
                </a:solidFill>
              </a:defRPr>
            </a:pPr>
            <a:r>
              <a:rPr sz="2000" b="1" dirty="0">
                <a:solidFill>
                  <a:srgbClr val="7657E8"/>
                </a:solidFill>
              </a:rPr>
              <a:t>02</a:t>
            </a:r>
            <a:endParaRPr sz="2000" b="1" dirty="0">
              <a:solidFill>
                <a:srgbClr val="7657E8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972300" y="2305050"/>
            <a:ext cx="3981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lang="zh-CN" altLang="en-US" sz="1500" b="1" dirty="0">
                <a:solidFill>
                  <a:srgbClr val="0B1220"/>
                </a:solidFill>
              </a:rPr>
              <a:t>系统自带顶部栏风格和现有界面不匹配</a:t>
            </a:r>
            <a:endParaRPr sz="1500" b="1" dirty="0">
              <a:solidFill>
                <a:srgbClr val="0B1220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419850" y="276225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lang="zh-CN" altLang="en-US" sz="1200" b="0" dirty="0">
                <a:solidFill>
                  <a:srgbClr val="65728A"/>
                </a:solidFill>
              </a:rPr>
              <a:t>直接用一行代码隐藏系统顶部栏，实现自定义的顶部栏，并附上相应的功能</a:t>
            </a:r>
            <a:endParaRPr sz="1200" b="0" dirty="0">
              <a:solidFill>
                <a:srgbClr val="65728A"/>
              </a:solidFill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723900" y="3638550"/>
            <a:ext cx="5067300" cy="1238250"/>
          </a:xfrm>
          <a:prstGeom prst="roundRect">
            <a:avLst>
              <a:gd name="adj" fmla="val 12308"/>
            </a:avLst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952499" y="3848100"/>
            <a:ext cx="745671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657E8"/>
                </a:solidFill>
              </a:defRPr>
            </a:pPr>
            <a:r>
              <a:rPr lang="en-US" sz="2000" b="1" dirty="0">
                <a:solidFill>
                  <a:srgbClr val="7657E8"/>
                </a:solidFill>
              </a:rPr>
              <a:t>03</a:t>
            </a:r>
            <a:endParaRPr sz="2000" b="1" dirty="0">
              <a:solidFill>
                <a:srgbClr val="7657E8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1504950" y="3810000"/>
            <a:ext cx="3981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lang="zh-CN" altLang="en-US" sz="1500" b="1" dirty="0">
                <a:solidFill>
                  <a:srgbClr val="0B1220"/>
                </a:solidFill>
              </a:rPr>
              <a:t>文件传输进度条乱显示</a:t>
            </a:r>
            <a:endParaRPr sz="1500" b="1" dirty="0">
              <a:solidFill>
                <a:srgbClr val="0B1220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52500" y="42672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endParaRPr sz="1200" b="0" dirty="0">
              <a:solidFill>
                <a:srgbClr val="65728A"/>
              </a:solidFill>
            </a:endParaRPr>
          </a:p>
        </p:txBody>
      </p:sp>
      <p:sp>
        <p:nvSpPr>
          <p:cNvPr id="17" name="矩形: 圆角 16"/>
          <p:cNvSpPr>
            <a:spLocks noGrp="1"/>
          </p:cNvSpPr>
          <p:nvPr/>
        </p:nvSpPr>
        <p:spPr>
          <a:xfrm>
            <a:off x="6191250" y="3638550"/>
            <a:ext cx="5067300" cy="1238250"/>
          </a:xfrm>
          <a:prstGeom prst="roundRect">
            <a:avLst>
              <a:gd name="adj" fmla="val 12308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419850" y="3848100"/>
            <a:ext cx="552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7657E8"/>
                </a:solidFill>
              </a:defRPr>
            </a:pPr>
            <a:r>
              <a:rPr sz="2000" b="1" dirty="0">
                <a:solidFill>
                  <a:srgbClr val="7657E8"/>
                </a:solidFill>
              </a:rPr>
              <a:t>04</a:t>
            </a:r>
            <a:endParaRPr sz="2000" b="1" dirty="0">
              <a:solidFill>
                <a:srgbClr val="7657E8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972300" y="3810000"/>
            <a:ext cx="3981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B1220"/>
                </a:solidFill>
              </a:defRPr>
            </a:pPr>
            <a:r>
              <a:rPr lang="zh-CN" altLang="en-US" sz="1500" b="1" dirty="0">
                <a:solidFill>
                  <a:srgbClr val="0B1220"/>
                </a:solidFill>
              </a:rPr>
              <a:t>全局焦点控制麻烦</a:t>
            </a:r>
            <a:endParaRPr sz="1500" b="1" dirty="0">
              <a:solidFill>
                <a:srgbClr val="0B1220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419850" y="4267200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65728A"/>
                </a:solidFill>
              </a:defRPr>
            </a:pPr>
            <a:r>
              <a:rPr lang="zh-CN" altLang="en-US" sz="1200" dirty="0">
                <a:solidFill>
                  <a:srgbClr val="65728A"/>
                </a:solidFill>
              </a:rPr>
              <a:t>经过测试，在每个应该让焦点消失的点击处均添加相应操作</a:t>
            </a:r>
            <a:endParaRPr sz="1200" b="0" dirty="0">
              <a:solidFill>
                <a:srgbClr val="65728A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23900" y="5276850"/>
            <a:ext cx="107823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723900" y="5486400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7657E8"/>
                </a:solidFill>
              </a:defRPr>
            </a:pPr>
            <a:r>
              <a:rPr sz="1500" b="1">
                <a:solidFill>
                  <a:srgbClr val="7657E8"/>
                </a:solidFill>
              </a:rPr>
              <a:t>我的设计体现</a:t>
            </a:r>
            <a:endParaRPr sz="1500" b="1">
              <a:solidFill>
                <a:srgbClr val="7657E8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400300" y="5457825"/>
            <a:ext cx="8267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1220"/>
                </a:solidFill>
              </a:defRPr>
            </a:pPr>
            <a:r>
              <a:rPr sz="1650" b="1">
                <a:solidFill>
                  <a:srgbClr val="0B1220"/>
                </a:solidFill>
              </a:rPr>
              <a:t>自适应结构  ·  显式状态  ·  响应式模型  ·  可预期交互</a:t>
            </a:r>
            <a:endParaRPr sz="1650" b="1">
              <a:solidFill>
                <a:srgbClr val="0B122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20</a:t>
            </a:r>
            <a:endParaRPr sz="900" b="0">
              <a:solidFill>
                <a:srgbClr val="8A95A8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933450" y="4278413"/>
            <a:ext cx="4572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200" b="0">
                <a:solidFill>
                  <a:srgbClr val="65728A"/>
                </a:solidFill>
              </a:defRPr>
            </a:pPr>
            <a:r>
              <a:rPr lang="zh-CN" altLang="zh-CN" sz="1200" dirty="0"/>
              <a:t>为每个传输任务维护独立的进度和状态，界面根据任务 ID 更新对应进度条，避免多个文件相互覆盖</a:t>
            </a:r>
            <a:endParaRPr sz="1200" b="0" dirty="0">
              <a:solidFill>
                <a:srgbClr val="65728A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>
            <a:spLocks noGrp="1"/>
          </p:cNvSpPr>
          <p:nvPr/>
        </p:nvSpPr>
        <p:spPr>
          <a:xfrm>
            <a:off x="685800" y="4000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0877FF"/>
                </a:solidFill>
              </a:defRPr>
            </a:pPr>
            <a:r>
              <a:rPr sz="1050" b="1">
                <a:solidFill>
                  <a:srgbClr val="0877FF"/>
                </a:solidFill>
              </a:rPr>
              <a:t>团队协作</a:t>
            </a:r>
            <a:endParaRPr sz="1050" b="1">
              <a:solidFill>
                <a:srgbClr val="0877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723900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850" b="1">
                <a:solidFill>
                  <a:srgbClr val="0B1220"/>
                </a:solidFill>
              </a:defRPr>
            </a:pPr>
            <a:r>
              <a:rPr sz="2850" b="1">
                <a:solidFill>
                  <a:srgbClr val="0B1220"/>
                </a:solidFill>
              </a:rPr>
              <a:t>三个人不是拼接三个模块，而是共同闭合一条消息链路</a:t>
            </a:r>
            <a:endParaRPr sz="2850" b="1">
              <a:solidFill>
                <a:srgbClr val="0B1220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85800" y="1333500"/>
            <a:ext cx="990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65728A"/>
                </a:solidFill>
              </a:defRPr>
            </a:pPr>
            <a:r>
              <a:rPr sz="1275" b="0">
                <a:solidFill>
                  <a:srgbClr val="65728A"/>
                </a:solidFill>
              </a:rPr>
              <a:t>AppController 是接口汇合点：每个人都在自己的边界内接入和验证。</a:t>
            </a:r>
            <a:endParaRPr sz="1275" b="0">
              <a:solidFill>
                <a:srgbClr val="65728A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5" name="矩形: 圆角 4"/>
          <p:cNvSpPr>
            <a:spLocks noGrp="1"/>
          </p:cNvSpPr>
          <p:nvPr/>
        </p:nvSpPr>
        <p:spPr>
          <a:xfrm>
            <a:off x="723900" y="2095500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7657E8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95350" y="2133600"/>
            <a:ext cx="118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江钒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552700" y="20955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7657E8"/>
                </a:solidFill>
              </a:defRPr>
            </a:pPr>
            <a:r>
              <a:rPr sz="1500" b="1">
                <a:solidFill>
                  <a:srgbClr val="7657E8"/>
                </a:solidFill>
              </a:rPr>
              <a:t>界面发起</a:t>
            </a:r>
            <a:endParaRPr sz="1500" b="1">
              <a:solidFill>
                <a:srgbClr val="7657E8"/>
              </a:solidFill>
            </a:endParaRPr>
          </a:p>
        </p:txBody>
      </p:sp>
      <p:sp>
        <p:nvSpPr>
          <p:cNvPr id="8" name="矩形: 圆角 7"/>
          <p:cNvSpPr>
            <a:spLocks noGrp="1"/>
          </p:cNvSpPr>
          <p:nvPr/>
        </p:nvSpPr>
        <p:spPr>
          <a:xfrm>
            <a:off x="4362450" y="2095500"/>
            <a:ext cx="7143750" cy="552450"/>
          </a:xfrm>
          <a:prstGeom prst="roundRect">
            <a:avLst>
              <a:gd name="adj" fmla="val 20690"/>
            </a:avLst>
          </a:prstGeom>
          <a:solidFill>
            <a:srgbClr val="F0ECFF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591050" y="2114550"/>
            <a:ext cx="6686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读取当前会话状态，触发 sendPrivateMessage / sendGroupMessage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0" name="矩形: 圆角 9"/>
          <p:cNvSpPr>
            <a:spLocks noGrp="1"/>
          </p:cNvSpPr>
          <p:nvPr/>
        </p:nvSpPr>
        <p:spPr>
          <a:xfrm>
            <a:off x="723900" y="2933700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0877F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895350" y="2971800"/>
            <a:ext cx="118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三人共同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552700" y="29337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0877FF"/>
                </a:solidFill>
              </a:defRPr>
            </a:pPr>
            <a:r>
              <a:rPr sz="1500" b="1">
                <a:solidFill>
                  <a:srgbClr val="0877FF"/>
                </a:solidFill>
              </a:rPr>
              <a:t>控制层编排</a:t>
            </a:r>
            <a:endParaRPr sz="1500" b="1">
              <a:solidFill>
                <a:srgbClr val="0877FF"/>
              </a:solidFill>
            </a:endParaRPr>
          </a:p>
        </p:txBody>
      </p:sp>
      <p:sp>
        <p:nvSpPr>
          <p:cNvPr id="13" name="矩形: 圆角 12"/>
          <p:cNvSpPr>
            <a:spLocks noGrp="1"/>
          </p:cNvSpPr>
          <p:nvPr/>
        </p:nvSpPr>
        <p:spPr>
          <a:xfrm>
            <a:off x="4362450" y="2933700"/>
            <a:ext cx="7143750" cy="552450"/>
          </a:xfrm>
          <a:prstGeom prst="roundRect">
            <a:avLst>
              <a:gd name="adj" fmla="val 20690"/>
            </a:avLst>
          </a:prstGeom>
          <a:solidFill>
            <a:srgbClr val="EAF3FF"/>
          </a:solidFill>
          <a:ln w="0">
            <a:noFill/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591050" y="2952750"/>
            <a:ext cx="6686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校验参数、调用网络能力、接收回调并刷新界面模型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15" name="矩形: 圆角 14"/>
          <p:cNvSpPr>
            <a:spLocks noGrp="1"/>
          </p:cNvSpPr>
          <p:nvPr/>
        </p:nvSpPr>
        <p:spPr>
          <a:xfrm>
            <a:off x="723900" y="3771900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F2A21B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895350" y="3810000"/>
            <a:ext cx="118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周城伟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552700" y="37719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F2A21B"/>
                </a:solidFill>
              </a:defRPr>
            </a:pPr>
            <a:r>
              <a:rPr sz="1500" b="1">
                <a:solidFill>
                  <a:srgbClr val="F2A21B"/>
                </a:solidFill>
              </a:rPr>
              <a:t>网络传输</a:t>
            </a:r>
            <a:endParaRPr sz="1500" b="1">
              <a:solidFill>
                <a:srgbClr val="F2A21B"/>
              </a:solidFill>
            </a:endParaRPr>
          </a:p>
        </p:txBody>
      </p:sp>
      <p:sp>
        <p:nvSpPr>
          <p:cNvPr id="18" name="矩形: 圆角 17"/>
          <p:cNvSpPr>
            <a:spLocks noGrp="1"/>
          </p:cNvSpPr>
          <p:nvPr/>
        </p:nvSpPr>
        <p:spPr>
          <a:xfrm>
            <a:off x="4362450" y="3771900"/>
            <a:ext cx="7143750" cy="552450"/>
          </a:xfrm>
          <a:prstGeom prst="roundRect">
            <a:avLst>
              <a:gd name="adj" fmla="val 20690"/>
            </a:avLst>
          </a:prstGeom>
          <a:solidFill>
            <a:srgbClr val="FFF4DE"/>
          </a:solidFill>
          <a:ln w="0">
            <a:noFill/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591050" y="3790950"/>
            <a:ext cx="6686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序列化协议帧、建立连接、处理接收缓冲和失败清理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20" name="矩形: 圆角 19"/>
          <p:cNvSpPr>
            <a:spLocks noGrp="1"/>
          </p:cNvSpPr>
          <p:nvPr/>
        </p:nvSpPr>
        <p:spPr>
          <a:xfrm>
            <a:off x="723900" y="4610100"/>
            <a:ext cx="1524000" cy="552450"/>
          </a:xfrm>
          <a:prstGeom prst="roundRect">
            <a:avLst>
              <a:gd name="adj" fmla="val 20690"/>
            </a:avLst>
          </a:prstGeom>
          <a:solidFill>
            <a:srgbClr val="18A5A0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95350" y="4648200"/>
            <a:ext cx="11811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何志远</a:t>
            </a:r>
            <a:endParaRPr sz="1425" b="1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552700" y="4610100"/>
            <a:ext cx="1714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8A5A0"/>
                </a:solidFill>
              </a:defRPr>
            </a:pPr>
            <a:r>
              <a:rPr sz="1500" b="1">
                <a:solidFill>
                  <a:srgbClr val="18A5A0"/>
                </a:solidFill>
              </a:rPr>
              <a:t>数据落库</a:t>
            </a:r>
            <a:endParaRPr sz="1500" b="1">
              <a:solidFill>
                <a:srgbClr val="18A5A0"/>
              </a:solidFill>
            </a:endParaRPr>
          </a:p>
        </p:txBody>
      </p:sp>
      <p:sp>
        <p:nvSpPr>
          <p:cNvPr id="23" name="矩形: 圆角 22"/>
          <p:cNvSpPr>
            <a:spLocks noGrp="1"/>
          </p:cNvSpPr>
          <p:nvPr/>
        </p:nvSpPr>
        <p:spPr>
          <a:xfrm>
            <a:off x="4362450" y="4610100"/>
            <a:ext cx="7143750" cy="552450"/>
          </a:xfrm>
          <a:prstGeom prst="roundRect">
            <a:avLst>
              <a:gd name="adj" fmla="val 20690"/>
            </a:avLst>
          </a:prstGeom>
          <a:solidFill>
            <a:srgbClr val="E8F7F6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4591050" y="4629150"/>
            <a:ext cx="6686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0B1220"/>
                </a:solidFill>
              </a:defRPr>
            </a:pPr>
            <a:r>
              <a:rPr sz="1275" b="0">
                <a:solidFill>
                  <a:srgbClr val="0B1220"/>
                </a:solidFill>
              </a:rPr>
              <a:t>保存消息与会话事实，查询历史并维持身份一致性</a:t>
            </a:r>
            <a:endParaRPr sz="1275" b="0">
              <a:solidFill>
                <a:srgbClr val="0B1220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1485900" y="2647950"/>
            <a:ext cx="19050" cy="285750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1485900" y="3486150"/>
            <a:ext cx="19050" cy="285750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485900" y="4324350"/>
            <a:ext cx="19050" cy="285750"/>
          </a:xfrm>
          <a:prstGeom prst="rect">
            <a:avLst/>
          </a:prstGeom>
          <a:solidFill>
            <a:srgbClr val="DDE4EE"/>
          </a:solidFill>
          <a:ln w="0">
            <a:noFill/>
            <a:prstDash val="solid"/>
          </a:ln>
        </p:spPr>
      </p:sp>
      <p:sp>
        <p:nvSpPr>
          <p:cNvPr id="28" name="矩形: 圆角 27"/>
          <p:cNvSpPr>
            <a:spLocks noGrp="1"/>
          </p:cNvSpPr>
          <p:nvPr/>
        </p:nvSpPr>
        <p:spPr>
          <a:xfrm>
            <a:off x="723900" y="5619750"/>
            <a:ext cx="10782300" cy="457200"/>
          </a:xfrm>
          <a:prstGeom prst="roundRect">
            <a:avLst>
              <a:gd name="adj" fmla="val 25000"/>
            </a:avLst>
          </a:prstGeom>
          <a:solidFill>
            <a:srgbClr val="F5F7FB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52500" y="5657850"/>
            <a:ext cx="10325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0B1220"/>
                </a:solidFill>
              </a:defRPr>
            </a:pPr>
            <a:r>
              <a:rPr sz="1350" b="1">
                <a:solidFill>
                  <a:srgbClr val="0B1220"/>
                </a:solidFill>
              </a:rPr>
              <a:t>协作方式体现为：统一接口、明确数据方向、共同处理 AppController，而不是给单个成员贴“主体”标签。</a:t>
            </a:r>
            <a:endParaRPr sz="1350" b="1">
              <a:solidFill>
                <a:srgbClr val="0B1220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10972800" y="64674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A95A8"/>
                </a:solidFill>
              </a:defRPr>
            </a:pPr>
            <a:r>
              <a:rPr sz="900" b="0">
                <a:solidFill>
                  <a:srgbClr val="8A95A8"/>
                </a:solidFill>
              </a:rPr>
              <a:t>21</a:t>
            </a:r>
            <a:endParaRPr sz="900" b="0">
              <a:solidFill>
                <a:srgbClr val="8A95A8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/>
          <p:cNvSpPr>
            <a:spLocks noGrp="1"/>
          </p:cNvSpPr>
          <p:nvPr/>
        </p:nvSpPr>
        <p:spPr>
          <a:xfrm>
            <a:off x="685800" y="4953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80B9FF"/>
                </a:solidFill>
              </a:defRPr>
            </a:pPr>
            <a:r>
              <a:rPr sz="1125" b="1">
                <a:solidFill>
                  <a:srgbClr val="80B9FF"/>
                </a:solidFill>
              </a:rPr>
              <a:t>项目总结</a:t>
            </a:r>
            <a:endParaRPr sz="1125" b="1">
              <a:solidFill>
                <a:srgbClr val="80B9FF"/>
              </a:solidFill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85800" y="933450"/>
            <a:ext cx="952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三条开发线，闭合成一条可靠体验</a:t>
            </a:r>
            <a:endParaRPr sz="3150" b="1">
              <a:solidFill>
                <a:srgbClr val="FFFFFF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704850" y="1619250"/>
            <a:ext cx="876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0">
                <a:solidFill>
                  <a:srgbClr val="BAC7DD"/>
                </a:solidFill>
              </a:defRPr>
            </a:pPr>
            <a:r>
              <a:rPr sz="1425" b="0">
                <a:solidFill>
                  <a:srgbClr val="BAC7DD"/>
                </a:solidFill>
              </a:rPr>
              <a:t>从发现用户，到完成沟通，再到保存与呈现，每个人守住一个关键环节。</a:t>
            </a:r>
            <a:endParaRPr sz="1425" b="0">
              <a:solidFill>
                <a:srgbClr val="BAC7DD"/>
              </a:solidFill>
            </a:endParaRPr>
          </a:p>
        </p:txBody>
      </p:sp>
      <p:sp>
        <p:nvSpPr>
          <p:cNvPr id="4" name="矩形: 圆角 3"/>
          <p:cNvSpPr>
            <a:spLocks noGrp="1"/>
          </p:cNvSpPr>
          <p:nvPr/>
        </p:nvSpPr>
        <p:spPr>
          <a:xfrm>
            <a:off x="704850" y="2514600"/>
            <a:ext cx="2305050" cy="1257300"/>
          </a:xfrm>
          <a:prstGeom prst="roundRect">
            <a:avLst>
              <a:gd name="adj" fmla="val 12121"/>
            </a:avLst>
          </a:prstGeom>
          <a:solidFill>
            <a:srgbClr val="111F42"/>
          </a:solidFill>
          <a:ln w="9525">
            <a:solidFill>
              <a:srgbClr val="26375D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2705100"/>
            <a:ext cx="400050" cy="47625"/>
          </a:xfrm>
          <a:prstGeom prst="rect">
            <a:avLst/>
          </a:prstGeom>
          <a:solidFill>
            <a:srgbClr val="F2A21B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29146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发现 / 连接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33528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F2A21B"/>
                </a:solidFill>
              </a:defRPr>
            </a:pPr>
            <a:r>
              <a:rPr sz="1200" b="1">
                <a:solidFill>
                  <a:srgbClr val="F2A21B"/>
                </a:solidFill>
              </a:rPr>
              <a:t>周城伟</a:t>
            </a:r>
            <a:endParaRPr sz="1200" b="1">
              <a:solidFill>
                <a:srgbClr val="F2A21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3009900" y="2914650"/>
            <a:ext cx="419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6780AC"/>
                </a:solidFill>
              </a:defRPr>
            </a:pPr>
            <a:r>
              <a:rPr sz="2025" b="1">
                <a:solidFill>
                  <a:srgbClr val="6780AC"/>
                </a:solidFill>
              </a:rPr>
              <a:t>→</a:t>
            </a:r>
            <a:endParaRPr sz="2025" b="1">
              <a:solidFill>
                <a:srgbClr val="6780AC"/>
              </a:solidFill>
            </a:endParaRPr>
          </a:p>
        </p:txBody>
      </p:sp>
      <p:sp>
        <p:nvSpPr>
          <p:cNvPr id="9" name="矩形: 圆角 8"/>
          <p:cNvSpPr>
            <a:spLocks noGrp="1"/>
          </p:cNvSpPr>
          <p:nvPr/>
        </p:nvSpPr>
        <p:spPr>
          <a:xfrm>
            <a:off x="3429000" y="2514600"/>
            <a:ext cx="2305050" cy="1257300"/>
          </a:xfrm>
          <a:prstGeom prst="roundRect">
            <a:avLst>
              <a:gd name="adj" fmla="val 12121"/>
            </a:avLst>
          </a:prstGeom>
          <a:solidFill>
            <a:srgbClr val="111F42"/>
          </a:solidFill>
          <a:ln w="9525">
            <a:solidFill>
              <a:srgbClr val="26375D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3638550" y="2705100"/>
            <a:ext cx="400050" cy="47625"/>
          </a:xfrm>
          <a:prstGeom prst="rect">
            <a:avLst/>
          </a:prstGeom>
          <a:solidFill>
            <a:srgbClr val="0877FF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638550" y="29146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业务协调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3638550" y="33528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0877FF"/>
                </a:solidFill>
              </a:defRPr>
            </a:pPr>
            <a:r>
              <a:rPr sz="1200" b="1">
                <a:solidFill>
                  <a:srgbClr val="0877FF"/>
                </a:solidFill>
              </a:rPr>
              <a:t>三人共同</a:t>
            </a:r>
            <a:endParaRPr sz="1200" b="1">
              <a:solidFill>
                <a:srgbClr val="0877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734050" y="2914650"/>
            <a:ext cx="419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6780AC"/>
                </a:solidFill>
              </a:defRPr>
            </a:pPr>
            <a:r>
              <a:rPr sz="2025" b="1">
                <a:solidFill>
                  <a:srgbClr val="6780AC"/>
                </a:solidFill>
              </a:rPr>
              <a:t>→</a:t>
            </a:r>
            <a:endParaRPr sz="2025" b="1">
              <a:solidFill>
                <a:srgbClr val="6780AC"/>
              </a:solidFill>
            </a:endParaRPr>
          </a:p>
        </p:txBody>
      </p:sp>
      <p:sp>
        <p:nvSpPr>
          <p:cNvPr id="14" name="矩形: 圆角 13"/>
          <p:cNvSpPr>
            <a:spLocks noGrp="1"/>
          </p:cNvSpPr>
          <p:nvPr/>
        </p:nvSpPr>
        <p:spPr>
          <a:xfrm>
            <a:off x="6153150" y="2514600"/>
            <a:ext cx="2305050" cy="1257300"/>
          </a:xfrm>
          <a:prstGeom prst="roundRect">
            <a:avLst>
              <a:gd name="adj" fmla="val 12121"/>
            </a:avLst>
          </a:prstGeom>
          <a:solidFill>
            <a:srgbClr val="111F42"/>
          </a:solidFill>
          <a:ln w="9525">
            <a:solidFill>
              <a:srgbClr val="26375D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362700" y="2705100"/>
            <a:ext cx="400050" cy="47625"/>
          </a:xfrm>
          <a:prstGeom prst="rect">
            <a:avLst/>
          </a:prstGeom>
          <a:solidFill>
            <a:srgbClr val="18A5A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6362700" y="29146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持久保存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62700" y="33528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8A5A0"/>
                </a:solidFill>
              </a:defRPr>
            </a:pPr>
            <a:r>
              <a:rPr sz="1200" b="1">
                <a:solidFill>
                  <a:srgbClr val="18A5A0"/>
                </a:solidFill>
              </a:rPr>
              <a:t>何志远</a:t>
            </a:r>
            <a:endParaRPr sz="1200" b="1">
              <a:solidFill>
                <a:srgbClr val="18A5A0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458200" y="2914650"/>
            <a:ext cx="419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025" b="1">
                <a:solidFill>
                  <a:srgbClr val="6780AC"/>
                </a:solidFill>
              </a:defRPr>
            </a:pPr>
            <a:r>
              <a:rPr sz="2025" b="1">
                <a:solidFill>
                  <a:srgbClr val="6780AC"/>
                </a:solidFill>
              </a:rPr>
              <a:t>→</a:t>
            </a:r>
            <a:endParaRPr sz="2025" b="1">
              <a:solidFill>
                <a:srgbClr val="6780AC"/>
              </a:solidFill>
            </a:endParaRPr>
          </a:p>
        </p:txBody>
      </p:sp>
      <p:sp>
        <p:nvSpPr>
          <p:cNvPr id="19" name="矩形: 圆角 18"/>
          <p:cNvSpPr>
            <a:spLocks noGrp="1"/>
          </p:cNvSpPr>
          <p:nvPr/>
        </p:nvSpPr>
        <p:spPr>
          <a:xfrm>
            <a:off x="8877300" y="2514600"/>
            <a:ext cx="2305050" cy="1257300"/>
          </a:xfrm>
          <a:prstGeom prst="roundRect">
            <a:avLst>
              <a:gd name="adj" fmla="val 12121"/>
            </a:avLst>
          </a:prstGeom>
          <a:solidFill>
            <a:srgbClr val="111F42"/>
          </a:solidFill>
          <a:ln w="9525">
            <a:solidFill>
              <a:srgbClr val="26375D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9086850" y="2705100"/>
            <a:ext cx="400050" cy="47625"/>
          </a:xfrm>
          <a:prstGeom prst="rect">
            <a:avLst/>
          </a:prstGeom>
          <a:solidFill>
            <a:srgbClr val="7657E8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086850" y="2914650"/>
            <a:ext cx="18859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界面呈现</a:t>
            </a:r>
            <a:endParaRPr sz="1650" b="1">
              <a:solidFill>
                <a:srgbClr val="FFFFFF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086850" y="3352800"/>
            <a:ext cx="1885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7657E8"/>
                </a:solidFill>
              </a:defRPr>
            </a:pPr>
            <a:r>
              <a:rPr sz="1200" b="1">
                <a:solidFill>
                  <a:srgbClr val="7657E8"/>
                </a:solidFill>
              </a:rPr>
              <a:t>江钒</a:t>
            </a:r>
            <a:endParaRPr sz="1200" b="1">
              <a:solidFill>
                <a:srgbClr val="7657E8"/>
              </a:solidFill>
            </a:endParaRPr>
          </a:p>
        </p:txBody>
      </p:sp>
      <p:sp>
        <p:nvSpPr>
          <p:cNvPr id="23" name="矩形: 圆角 22"/>
          <p:cNvSpPr>
            <a:spLocks noGrp="1"/>
          </p:cNvSpPr>
          <p:nvPr/>
        </p:nvSpPr>
        <p:spPr>
          <a:xfrm>
            <a:off x="704850" y="4305300"/>
            <a:ext cx="10782300" cy="876300"/>
          </a:xfrm>
          <a:prstGeom prst="roundRect">
            <a:avLst>
              <a:gd name="adj" fmla="val 13043"/>
            </a:avLst>
          </a:prstGeom>
          <a:solidFill>
            <a:srgbClr val="101E3F"/>
          </a:solidFill>
          <a:ln w="9525">
            <a:solidFill>
              <a:srgbClr val="26375D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933450" y="44577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80B9FF"/>
                </a:solidFill>
              </a:defRPr>
            </a:pPr>
            <a:r>
              <a:rPr sz="1350" b="1">
                <a:solidFill>
                  <a:srgbClr val="80B9FF"/>
                </a:solidFill>
              </a:rPr>
              <a:t>当前边界</a:t>
            </a:r>
            <a:endParaRPr sz="1350" b="1">
              <a:solidFill>
                <a:srgbClr val="80B9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286000" y="4381500"/>
            <a:ext cx="876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群聊文件传输尚未实现；网络层使用 POSIX Socket 与 epoll，当前更适合 Linux。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2286000" y="4800600"/>
            <a:ext cx="876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A9B8D2"/>
                </a:solidFill>
              </a:defRPr>
            </a:pPr>
            <a:r>
              <a:rPr sz="1200" b="0">
                <a:solidFill>
                  <a:srgbClr val="A9B8D2"/>
                </a:solidFill>
              </a:rPr>
              <a:t>下一步可沿既有分层扩展：跨平台网络封装、默认下载路径与日志能力。</a:t>
            </a:r>
            <a:endParaRPr sz="1200" b="0">
              <a:solidFill>
                <a:srgbClr val="A9B8D2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04850" y="5753100"/>
            <a:ext cx="1104900" cy="47625"/>
          </a:xfrm>
          <a:prstGeom prst="rect">
            <a:avLst/>
          </a:prstGeom>
          <a:solidFill>
            <a:srgbClr val="0877FF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04850" y="59436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设计不是额外包装，而是让每一层都清楚自己该负责什么。</a:t>
            </a:r>
            <a:endParaRPr sz="1575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0953750" y="64579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0">
                <a:solidFill>
                  <a:srgbClr val="8190B2"/>
                </a:solidFill>
              </a:defRPr>
            </a:pPr>
            <a:r>
              <a:rPr sz="900" b="0">
                <a:solidFill>
                  <a:srgbClr val="8190B2"/>
                </a:solidFill>
              </a:rPr>
              <a:t>22</a:t>
            </a:r>
            <a:endParaRPr sz="900" b="0">
              <a:solidFill>
                <a:srgbClr val="8190B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5385</Words>
  <Application>WPS 演示</Application>
  <PresentationFormat>宽屏</PresentationFormat>
  <Paragraphs>739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华文黑体</vt:lpstr>
      <vt:lpstr>宋体</vt:lpstr>
      <vt:lpstr>方正书宋_GBK</vt:lpstr>
      <vt:lpstr>Calibri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root</cp:lastModifiedBy>
  <cp:revision>7</cp:revision>
  <dcterms:created xsi:type="dcterms:W3CDTF">2026-07-15T10:07:49Z</dcterms:created>
  <dcterms:modified xsi:type="dcterms:W3CDTF">2026-07-15T10:07:49Z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54D1C25EBDBC87F00F56576A398E0765_42</vt:lpwstr>
  </property>
  <property fmtid="{D5CDD505-2E9C-101B-9397-08002B2CF9AE}" pid="3" name="KSOProductBuildVer">
    <vt:lpwstr>2052-12.1.0.17900</vt:lpwstr>
  </property>
</Properties>
</file>